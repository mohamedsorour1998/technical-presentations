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5200" b="1">
                <a:solidFill>
                  <a:srgbClr val="F1ECDD"/>
                </a:solidFill>
                <a:latin typeface="Helvetica Neue"/>
              </a:rPr>
              <a:t>AN AI TUTOR THAT</a:t>
            </a:r>
          </a:p>
          <a:p>
            <a:pPr algn="l">
              <a:lnSpc>
                <a:spcPct val="103000"/>
              </a:lnSpc>
            </a:pPr>
            <a:r>
              <a:rPr sz="5200" b="1">
                <a:solidFill>
                  <a:srgbClr val="F1ECDD"/>
                </a:solidFill>
                <a:latin typeface="Helvetica Neue"/>
              </a:rPr>
              <a:t>WON'T JUST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46120"/>
            <a:ext cx="2377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94A099"/>
                </a:solidFill>
                <a:latin typeface="Helvetica Neue"/>
              </a:rPr>
              <a:t>A hint-first, multi-agent tutor for software and cloud engineering—grounded in a real, working environment, not a chat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Menlo"/>
              </a:rPr>
              <a:t>ROSETTACLOUD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4A099"/>
                </a:solidFill>
                <a:latin typeface="Helvetica Neue"/>
              </a:rPr>
              <a:t>GenAI for Education Hackathon 2026 · Startup Track · Category: AI Tutor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94A099"/>
                </a:solidFill>
                <a:latin typeface="Helvetica Neue"/>
              </a:rPr>
              <a:t>Mohamed Sorour · Mohamed Talal · Moaz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F1ECDD"/>
                </a:solidFill>
                <a:latin typeface="Helvetica Neue"/>
              </a:rPr>
              <a:t>Chatbots answer. That's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1ECDD"/>
                </a:solidFill>
                <a:latin typeface="Helvetica Neue"/>
              </a:rPr>
              <a:t>Generic AI assistants and coding copilots hand over the answer on request — a student learns to accept a suggestion, not to reason through a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1ECDD"/>
                </a:solidFill>
                <a:latin typeface="Helvetica Neue"/>
              </a:rPr>
              <a:t>Hands-on platforms bolt AI on afterward: it validates what a student already built, or answers a question like any chatbot — it doesn't shape how they got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1ECDD"/>
                </a:solidFill>
                <a:latin typeface="Helvetica Neue"/>
              </a:rPr>
              <a:t>Nobody pairs a tutor built to withhold the answer with an environment real enough for that restraint to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235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That's the gap RosettaCloud fills: a tutor engineered to guide instead of answer, working inside real infrastructure instead of a sandboxed chat.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1ECDD"/>
                </a:solidFill>
                <a:latin typeface="Helvetica Neue"/>
              </a:rPr>
              <a:t>Hired, not certified.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606040"/>
            <a:ext cx="3212592" cy="237744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8892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Primary —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502152"/>
            <a:ext cx="2846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Early-career engineers in developing economies who need a tutor and a real lab they can actually afford. First validated in Egypt.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4464" y="2606040"/>
            <a:ext cx="3212592" cy="237744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5632" y="278892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Secondary — 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632" y="3502152"/>
            <a:ext cx="2846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Bootcamps and universities that need AI-tutored labs for a cohort without building and running them. Bulk licensing, one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3088" y="2606040"/>
            <a:ext cx="3212592" cy="237744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4256" y="278892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Why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4256" y="3502152"/>
            <a:ext cx="2846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Coding copilots teach students to accept suggestions, not understand them. The same GenAI wave makes a hint-first tutor possible at this cost.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CURRENT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1ECDD"/>
                </a:solidFill>
                <a:latin typeface="Helvetica Neue"/>
              </a:rPr>
              <a:t>A tutor that guides, for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A three-agent AI system — tutor, grader, planner — gives hints grounded in the real curriculum, never the answer outright.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99232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Grading isn't self-reported: the grader checks a student's actual submitted work by exit code, inside their own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21024"/>
            <a:ext cx="10149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That environment is real — a dedicated Kubernetes cluster and Docker daemon per student — so the tutor is coaching genuine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2926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ECDD"/>
                </a:solidFill>
                <a:latin typeface="Helvetica Neue"/>
              </a:rPr>
              <a:t>&lt;10s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5274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from “Start Lab”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to a running 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166360"/>
            <a:ext cx="2926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FD1C5"/>
                </a:solidFill>
                <a:latin typeface="Helvetica Neue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95274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AWS services across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the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166360"/>
            <a:ext cx="2926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ECDD"/>
                </a:solidFill>
                <a:latin typeface="Helvetica Neue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952744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automated CI/CD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pipelines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CURRENT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1ECDD"/>
                </a:solidFill>
                <a:latin typeface="Helvetica Neue"/>
              </a:rPr>
              <a:t>Where it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F1ECDD"/>
                </a:solidFill>
                <a:latin typeface="Helvetica Neue"/>
              </a:rPr>
              <a:t>The platform was substantially rebuilt this year — migrating off an earlier Python monolith onto hardened Java microservices — and every service is proven deployable end to end by CI on every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94A099"/>
                </a:solidFill>
                <a:latin typeface="Helvetica Neue"/>
              </a:rPr>
              <a:t>It is not continuously serving public traffic at this moment. Redeploying to a persistent environment is the immediate next step, not an open engineering question.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1ECDD"/>
                </a:solidFill>
                <a:latin typeface="Helvetica Neue"/>
              </a:rPr>
              <a:t>Validated by the people it's for.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514600"/>
            <a:ext cx="3212592" cy="196596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69748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Nehal Hassan —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410712"/>
            <a:ext cx="284683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lab 5/5 · AI 5/5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“More useful than KodeKloud.”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Would pay $10–15/mo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4464" y="2514600"/>
            <a:ext cx="3212592" cy="196596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5632" y="269748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Mohamed Talal — AI Eng.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632" y="3410712"/>
            <a:ext cx="284683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lab 5/5 · AI 4/5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Found a real history bug.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Would pay $25+/mo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3088" y="2514600"/>
            <a:ext cx="3212592" cy="1965960"/>
          </a:xfrm>
          <a:prstGeom prst="rect">
            <a:avLst/>
          </a:prstGeom>
          <a:solidFill>
            <a:srgbClr val="1F2623"/>
          </a:solidFill>
          <a:ln w="12700">
            <a:solidFill>
              <a:srgbClr val="2B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4256" y="2697480"/>
            <a:ext cx="28468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FD1C5"/>
                </a:solidFill>
                <a:latin typeface="Helvetica Neue"/>
              </a:rPr>
              <a:t>Moaz Gamal — AI Eng.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4256" y="3410712"/>
            <a:ext cx="2846832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lab 5/5 · AI 5/5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“More agentic — not just Q&amp;A.”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Would pay $15–25/mo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FD1C5"/>
                </a:solidFill>
                <a:latin typeface="Helvetica Neue"/>
              </a:rPr>
              <a:t>AWS AIdeas 2025 — Top-50 Finalist, Social Impact category, selected from thousands of global submissions. Judges' feedback highlighted: production-grade technical execution · hint-first pedagogy well implemented · real infrastructure rather than simulation.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4A099"/>
                </a:solidFill>
                <a:latin typeface="Helvetica Neue"/>
              </a:rPr>
              <a:t>Early-stage: three testers, not yet a cohort. Next milestone is a structured pilot with a full class.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F1ECDD"/>
                </a:solidFill>
                <a:latin typeface="Helvetica Neue"/>
              </a:rPr>
              <a:t>Freemium economics: forty cents a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4688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688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ALLOWANCE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468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798064"/>
            <a:ext cx="10149840" cy="12700"/>
          </a:xfrm>
          <a:prstGeom prst="rect">
            <a:avLst/>
          </a:prstGeom>
          <a:solidFill>
            <a:srgbClr val="2B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1ECDD"/>
                </a:solidFill>
                <a:latin typeface="Helvetica Neue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Any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2608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2h lab + 50 AI msgs /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92608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2841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FD1C5"/>
                </a:solidFill>
                <a:latin typeface="Helvetica Neue"/>
              </a:rPr>
              <a:t>Individual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32841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FD1C5"/>
                </a:solidFill>
                <a:latin typeface="Menlo"/>
              </a:rPr>
              <a:t>Committed learners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32841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FD1C5"/>
                </a:solidFill>
                <a:latin typeface="Menlo"/>
              </a:rPr>
              <a:t>Unlimited labs, full tutor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32841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FD1C5"/>
                </a:solidFill>
                <a:latin typeface="Menlo"/>
              </a:rPr>
              <a:t>$15–25/mo  (planned)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3075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1ECDD"/>
                </a:solidFill>
                <a:latin typeface="Helvetica Neue"/>
              </a:rPr>
              <a:t>University / bootcamp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07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Institutions, per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307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Bulk seats, 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7307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099"/>
                </a:solidFill>
                <a:latin typeface="Menlo"/>
              </a:rPr>
              <a:t>$8–12/student/mo  (planned)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4A099"/>
                </a:solidFill>
                <a:latin typeface="Helvetica Neue"/>
              </a:rPr>
              <a:t>Funded by spot-instance compute and a deliberately cheap inference model — not by venture-scale burn.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F1ECDD"/>
                </a:solidFill>
                <a:latin typeface="Helvetica Neue"/>
              </a:rPr>
              <a:t>The ratio behind a sustainable free 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5117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Cost to serve one free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569464"/>
            <a:ext cx="4663440" cy="310896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2569464"/>
            <a:ext cx="93268" cy="310896"/>
          </a:xfrm>
          <a:prstGeom prst="rect">
            <a:avLst/>
          </a:prstGeom>
          <a:solidFill>
            <a:srgbClr val="94A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4292" y="253288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4A099"/>
                </a:solidFill>
                <a:latin typeface="Menlo"/>
              </a:rPr>
              <a:t>$0.40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Individual plan price (mid-point)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264408"/>
            <a:ext cx="4663440" cy="310896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264408"/>
            <a:ext cx="4663440" cy="31089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322783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$20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ADE80"/>
                </a:solidFill>
                <a:latin typeface="Helvetica Neue"/>
              </a:rPr>
              <a:t>~98%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04104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gross margin on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the individual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617720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4FD1C5"/>
                </a:solidFill>
                <a:latin typeface="Helvetica Neue"/>
              </a:rPr>
              <a:t>1:46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404104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one paid user funds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this many free 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617720"/>
            <a:ext cx="32004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ECDD"/>
                </a:solidFill>
                <a:latin typeface="Helvetica Neue"/>
              </a:rPr>
              <a:t>$0.40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04104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fully-loaded monthly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cost per free user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GENAI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1ECDD"/>
                </a:solidFill>
                <a:latin typeface="Helvetica Neue"/>
              </a:rPr>
              <a:t>Three agents. Hint-first,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423160"/>
            <a:ext cx="10058400" cy="822960"/>
          </a:xfrm>
          <a:prstGeom prst="rect">
            <a:avLst/>
          </a:prstGeom>
          <a:solidFill>
            <a:srgbClr val="1F2623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D1C5"/>
                </a:solidFill>
                <a:latin typeface="Menlo"/>
              </a:rPr>
              <a:t>TUTOR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0604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ECDD"/>
                </a:solidFill>
                <a:latin typeface="Helvetica Neue"/>
              </a:rPr>
              <a:t>retrieves the real curriculum (Titan embeddings, LanceDB) and hints toward it — calibrated to withhold the direct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383280"/>
            <a:ext cx="10058400" cy="822960"/>
          </a:xfrm>
          <a:prstGeom prst="rect">
            <a:avLst/>
          </a:prstGeom>
          <a:solidFill>
            <a:srgbClr val="1F2623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301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D1C5"/>
                </a:solidFill>
                <a:latin typeface="Menlo"/>
              </a:rPr>
              <a:t>GRADER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6616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ECDD"/>
                </a:solidFill>
                <a:latin typeface="Helvetica Neue"/>
              </a:rPr>
              <a:t>reads the exit code from a student's real submitted work inside their own lab — not a self-report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43400"/>
            <a:ext cx="10058400" cy="822960"/>
          </a:xfrm>
          <a:prstGeom prst="rect">
            <a:avLst/>
          </a:prstGeom>
          <a:solidFill>
            <a:srgbClr val="1F2623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5902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D1C5"/>
                </a:solidFill>
                <a:latin typeface="Menlo"/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2628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1ECDD"/>
                </a:solidFill>
                <a:latin typeface="Helvetica Neue"/>
              </a:rPr>
              <a:t>sequences the next step from a student's actual progress, with memory that persists across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Built on Amazon Bedrock AgentCore and Amazon Nova — the entire AI layer is AWS-native; no third-party model sits in the request path.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GENAI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1ECDD"/>
                </a:solidFill>
                <a:latin typeface="Helvetica Neue"/>
              </a:rPr>
              <a:t>Why this needs GenAI.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1ECDD"/>
                </a:solidFill>
                <a:latin typeface="Helvetica Neue"/>
              </a:rPr>
              <a:t>A fixed curriculum can't respond to what a specific student typed into their own terminal and got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1ECDD"/>
                </a:solidFill>
                <a:latin typeface="Helvetica Neue"/>
              </a:rPr>
              <a:t>A rules engine can't paraphrase the same hint three different ways when a student is still stuck — that requires reasoning over open-ended, student-specific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0149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1ECDD"/>
                </a:solidFill>
                <a:latin typeface="Helvetica Neue"/>
              </a:rPr>
              <a:t>Not a Copilot clone: GitHub Copilot and similar tools autocomplete the answer. This tutor is deliberately built to withhold it — a pedagogical stance, not a missing feature.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>
                <a:solidFill>
                  <a:srgbClr val="F1ECDD"/>
                </a:solidFill>
                <a:latin typeface="Helvetica Neue"/>
              </a:rPr>
              <a:t>Everyone else answers. Nobody guides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402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AI TUTORING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HANDS-ON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24028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Helvetica Neue"/>
              </a:rPr>
              <a:t>PRICE / 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569464"/>
            <a:ext cx="10149840" cy="12700"/>
          </a:xfrm>
          <a:prstGeom prst="rect">
            <a:avLst/>
          </a:prstGeom>
          <a:solidFill>
            <a:srgbClr val="2B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ECDD"/>
                </a:solidFill>
                <a:latin typeface="Helvetica Neue"/>
              </a:rPr>
              <a:t>AWS Skill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9748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Answers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Console sandbox, guided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697480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$29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1810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ECDD"/>
                </a:solidFill>
                <a:latin typeface="Helvetica Neue"/>
              </a:rPr>
              <a:t>Coursera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18104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QA bot over videos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1810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Browser 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118104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~$24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ECDD"/>
                </a:solidFill>
                <a:latin typeface="Helvetica Neue"/>
              </a:rPr>
              <a:t>GitHub Copilot / Codespaces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53872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Autocompletes the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3872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No privileged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538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~$0.18/hr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5935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ECDD"/>
                </a:solidFill>
                <a:latin typeface="Helvetica Neue"/>
              </a:rPr>
              <a:t>KodeKloud (AI tier)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5935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Validates after the 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5935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Shared, pre-existing sandbox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959352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099"/>
                </a:solidFill>
                <a:latin typeface="Menlo"/>
              </a:rPr>
              <a:t>$46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79976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FD1C5"/>
                </a:solidFill>
                <a:latin typeface="Helvetica Neue"/>
              </a:rPr>
              <a:t>RosettaCloud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379976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Hint-first, before trying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7997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Own cluster, per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379976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FD1C5"/>
                </a:solidFill>
                <a:latin typeface="Menlo"/>
              </a:rPr>
              <a:t>$15–25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00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AWS Skill Builder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5038344"/>
            <a:ext cx="4663440" cy="164592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0" y="5038344"/>
            <a:ext cx="2939994" cy="164592"/>
          </a:xfrm>
          <a:prstGeom prst="rect">
            <a:avLst/>
          </a:prstGeom>
          <a:solidFill>
            <a:srgbClr val="94A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1018" y="5001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4A099"/>
                </a:solidFill>
                <a:latin typeface="Menlo"/>
              </a:rPr>
              <a:t>$29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22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Coursera Plus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440680"/>
            <a:ext cx="4663440" cy="164592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74720" y="5440680"/>
            <a:ext cx="2433099" cy="164592"/>
          </a:xfrm>
          <a:prstGeom prst="rect">
            <a:avLst/>
          </a:prstGeom>
          <a:solidFill>
            <a:srgbClr val="94A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4123" y="54041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4A099"/>
                </a:solidFill>
                <a:latin typeface="Menlo"/>
              </a:rPr>
              <a:t>$24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8247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KodeKloud (AI tier)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5843016"/>
            <a:ext cx="4663440" cy="164592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0" y="5843016"/>
            <a:ext cx="4663440" cy="164592"/>
          </a:xfrm>
          <a:prstGeom prst="rect">
            <a:avLst/>
          </a:prstGeom>
          <a:solidFill>
            <a:srgbClr val="94A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4A099"/>
                </a:solidFill>
                <a:latin typeface="Menlo"/>
              </a:rPr>
              <a:t>$46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227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1ECDD"/>
                </a:solidFill>
                <a:latin typeface="Helvetica Neue"/>
              </a:rPr>
              <a:t>RosettaCloud (planned)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6245352"/>
            <a:ext cx="4663440" cy="164592"/>
          </a:xfrm>
          <a:prstGeom prst="rect">
            <a:avLst/>
          </a:prstGeom>
          <a:solidFill>
            <a:srgbClr val="1F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0" y="6245352"/>
            <a:ext cx="1520686" cy="1645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1710" y="6208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DE80"/>
                </a:solidFill>
                <a:latin typeface="Menlo"/>
              </a:rPr>
              <a:t>$15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F1ECDD"/>
                </a:solidFill>
                <a:latin typeface="Helvetica Neue"/>
              </a:rPr>
              <a:t>Three engineers,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rou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60" y="2423160"/>
            <a:ext cx="1691640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4343400"/>
            <a:ext cx="307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ECDD"/>
                </a:solidFill>
                <a:latin typeface="Helvetica Neue"/>
              </a:rPr>
              <a:t>Mohamed Sorour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307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Menlo"/>
              </a:rPr>
              <a:t>FOUNDER &amp;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02352"/>
            <a:ext cx="307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94A099"/>
                </a:solidFill>
                <a:latin typeface="Helvetica Neue"/>
              </a:rPr>
              <a:t>Senior DevOps Engineer, AWS Community Builder. Designed and built the platform end to end — microservices, Kubernetes-based lab provisioning, CI/CD, and the multi-agent tutor.</a:t>
            </a:r>
          </a:p>
        </p:txBody>
      </p:sp>
      <p:pic>
        <p:nvPicPr>
          <p:cNvPr id="10" name="Picture 9" descr="talal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2423160"/>
            <a:ext cx="169164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520" y="4343400"/>
            <a:ext cx="307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ECDD"/>
                </a:solidFill>
                <a:latin typeface="Helvetica Neue"/>
              </a:rPr>
              <a:t>Mohamed Talal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4754880"/>
            <a:ext cx="307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Menlo"/>
              </a:rPr>
              <a:t>AI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520" y="5102352"/>
            <a:ext cx="307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94A099"/>
                </a:solidFill>
                <a:latin typeface="Helvetica Neue"/>
              </a:rPr>
              <a:t>Works on the tutoring system's agent design and evaluation. One of the platform's earliest testers — found a real conversation-history bug before it reached students.</a:t>
            </a:r>
          </a:p>
        </p:txBody>
      </p:sp>
      <p:pic>
        <p:nvPicPr>
          <p:cNvPr id="14" name="Picture 13" descr="moaz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620" y="242316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7200" y="4343400"/>
            <a:ext cx="307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1ECDD"/>
                </a:solidFill>
                <a:latin typeface="Helvetica Neue"/>
              </a:rPr>
              <a:t>Moaz Gamal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4754880"/>
            <a:ext cx="307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FD1C5"/>
                </a:solidFill>
                <a:latin typeface="Menlo"/>
              </a:rPr>
              <a:t>AI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5102352"/>
            <a:ext cx="307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94A099"/>
                </a:solidFill>
                <a:latin typeface="Helvetica Neue"/>
              </a:rPr>
              <a:t>Works on the tutoring system's agent design and evaluation. An early tester whose feedback pushed the tutor from simple Q&amp;A toward genuinely agentic help.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Helvetica Neue"/>
              </a:rPr>
              <a:t>GROWTH &amp; IMPACT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1ECDD"/>
                </a:solidFill>
                <a:latin typeface="Helvetica Neue"/>
              </a:rPr>
              <a:t>Signal, before a dollar of marketing.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83664"/>
            <a:ext cx="14630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ADE80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68880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1ECDD"/>
                </a:solidFill>
                <a:latin typeface="Helvetica Neue"/>
              </a:rPr>
              <a:t>3 for 3 on lab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4A099"/>
                </a:solidFill>
                <a:latin typeface="Helvetica Neue"/>
              </a:rPr>
              <a:t>Every pilot tester rated the lab 5/5 and stated a willingness to pay $10–25+/month — before any pricing existed.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ADE80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401568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1ECDD"/>
                </a:solidFill>
                <a:latin typeface="Helvetica Neue"/>
              </a:rPr>
              <a:t>AIdeas 2025 — Top-50 Finalist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40156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4A099"/>
                </a:solidFill>
                <a:latin typeface="Helvetica Neue"/>
              </a:rPr>
              <a:t>Selected from thousands of global submissions, Social Impact category — independent, competitive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3425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ADE80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334256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1ECDD"/>
                </a:solidFill>
                <a:latin typeface="Helvetica Neue"/>
              </a:rPr>
              <a:t>Platform rebuilt on hardened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334256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4A099"/>
                </a:solidFill>
                <a:latin typeface="Helvetica Neue"/>
              </a:rPr>
              <a:t>Migrated to Java microservices with security-hardened, CI-verified deployments — ready to serve a real cohort.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669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ADE80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266944"/>
            <a:ext cx="4114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F1ECDD"/>
                </a:solidFill>
                <a:latin typeface="Helvetica Neue"/>
              </a:rPr>
              <a:t>Redeploy, then a structured cohort pilot   [PLAN]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266944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4A099"/>
                </a:solidFill>
                <a:latin typeface="Helvetica Neue"/>
              </a:rPr>
              <a:t>Bring the platform back to a persistent environment, run a full-class pilot, then open freemium growth and approach bootcamps for bulk licensing.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>
                <a:solidFill>
                  <a:srgbClr val="F1ECDD"/>
                </a:solidFill>
                <a:latin typeface="Helvetica Neue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201168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4FD1C5"/>
                </a:solidFill>
                <a:latin typeface="Helvetica Neue"/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Mohamed Sorour · Mohamed Talal · Moaz Gamal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099"/>
                </a:solidFill>
                <a:latin typeface="Helvetica Neue"/>
              </a:rPr>
              <a:t>GenAI for Education Hackathon 2026 · Startup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91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