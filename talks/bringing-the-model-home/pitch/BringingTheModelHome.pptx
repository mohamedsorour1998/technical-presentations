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9164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2000"/>
              </a:lnSpc>
            </a:pPr>
            <a:r>
              <a:rPr sz="5800" b="1">
                <a:solidFill>
                  <a:srgbClr val="E8EDF4"/>
                </a:solidFill>
                <a:latin typeface="Helvetica Neue"/>
              </a:rPr>
              <a:t>BRINGING THE</a:t>
            </a:r>
          </a:p>
          <a:p>
            <a:pPr algn="l">
              <a:lnSpc>
                <a:spcPct val="102000"/>
              </a:lnSpc>
            </a:pPr>
            <a:r>
              <a:rPr sz="5800" b="1">
                <a:solidFill>
                  <a:srgbClr val="E8EDF4"/>
                </a:solidFill>
                <a:latin typeface="Helvetica Neue"/>
              </a:rPr>
              <a:t>MODEL HOME</a:t>
            </a:r>
          </a:p>
        </p:txBody>
      </p:sp>
      <p:sp>
        <p:nvSpPr>
          <p:cNvPr id="5" name="deckkit-rule"/>
          <p:cNvSpPr/>
          <p:nvPr/>
        </p:nvSpPr>
        <p:spPr>
          <a:xfrm>
            <a:off x="1005840" y="3520440"/>
            <a:ext cx="23774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886200"/>
            <a:ext cx="9509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0">
                <a:solidFill>
                  <a:srgbClr val="8A94A6"/>
                </a:solidFill>
                <a:latin typeface="Helvetica Neue"/>
              </a:rPr>
              <a:t>Running production AI workloads on local hardware,</a:t>
            </a:r>
          </a:p>
          <a:p>
            <a:pPr algn="l">
              <a:lnSpc>
                <a:spcPct val="120000"/>
              </a:lnSpc>
            </a:pPr>
            <a:r>
              <a:rPr sz="2300" b="0">
                <a:solidFill>
                  <a:srgbClr val="8A94A6"/>
                </a:solidFill>
                <a:latin typeface="Helvetica Neue"/>
              </a:rPr>
              <a:t>and deciding which workloads qualify.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34924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8A94A6"/>
                </a:solidFill>
                <a:latin typeface="Helvetica Neue"/>
              </a:rPr>
              <a:t>Mohamed Sorour   ·   Senior DevOps Engineer, Vezeeta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8A94A6"/>
                </a:solidFill>
                <a:latin typeface="Helvetica Neue"/>
              </a:rPr>
              <a:t>DevOpsDays Cairo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291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A94A6"/>
                </a:solidFill>
                <a:latin typeface="Helvetica Neue"/>
              </a:rPr>
              <a:t>1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C5"/>
                </a:solidFill>
                <a:latin typeface="Helvetica Neue"/>
              </a:rPr>
              <a:t>SPEAKER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1">
                <a:solidFill>
                  <a:srgbClr val="E8EDF4"/>
                </a:solidFill>
                <a:latin typeface="Helvetica Neue"/>
              </a:rPr>
              <a:t>Mohamed Sorour</a:t>
            </a:r>
          </a:p>
        </p:txBody>
      </p:sp>
      <p:sp>
        <p:nvSpPr>
          <p:cNvPr id="5" name="deckkit-rule"/>
          <p:cNvSpPr/>
          <p:nvPr/>
        </p:nvSpPr>
        <p:spPr>
          <a:xfrm>
            <a:off x="1005840" y="1883664"/>
            <a:ext cx="14630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orou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2286000"/>
            <a:ext cx="2286000" cy="2286000"/>
          </a:xfrm>
          <a:prstGeom prst="ellipse">
            <a:avLst/>
          </a:prstGeom>
          <a:ln w="25400">
            <a:solidFill>
              <a:srgbClr val="4FD1C5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005840" y="22860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4FD1C5"/>
                </a:solidFill>
                <a:latin typeface="Helvetica Neue"/>
              </a:rPr>
              <a:t>Senior DevOps Engineer, Vezeeta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6949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E8EDF4"/>
                </a:solidFill>
                <a:latin typeface="Helvetica Neue"/>
              </a:rPr>
              <a:t>Healthcare technology, where data residency is a documented constraint rather than a preference.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86200"/>
            <a:ext cx="6949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E8EDF4"/>
                </a:solidFill>
                <a:latin typeface="Helvetica Neue"/>
              </a:rPr>
              <a:t>I build and operate the delivery pipelines other teams ship through, so dependency lifecycle is part of the job.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800600"/>
            <a:ext cx="6949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E8EDF4"/>
                </a:solidFill>
                <a:latin typeface="Helvetica Neue"/>
              </a:rPr>
              <a:t>Cairo, Egypt.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669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8A94A6"/>
                </a:solidFill>
                <a:latin typeface="Helvetica Neue"/>
              </a:rPr>
              <a:t>This talk reports an evaluation I ran for my own use. It is not a product recommendation, and I have no affiliation with any vendor named in it.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247120" y="6291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A94A6"/>
                </a:solidFill>
                <a:latin typeface="Helvetica Neue"/>
              </a:rPr>
              <a:t>2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C5"/>
                </a:solidFill>
                <a:latin typeface="Helvetica Neue"/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E8EDF4"/>
                </a:solidFill>
                <a:latin typeface="Helvetica Neue"/>
              </a:rPr>
              <a:t>Why evaluate local inference</a:t>
            </a:r>
          </a:p>
        </p:txBody>
      </p:sp>
      <p:sp>
        <p:nvSpPr>
          <p:cNvPr id="5" name="deckkit-rule"/>
          <p:cNvSpPr/>
          <p:nvPr/>
        </p:nvSpPr>
        <p:spPr>
          <a:xfrm>
            <a:off x="1005840" y="1883664"/>
            <a:ext cx="14630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E8EDF4"/>
                </a:solidFill>
                <a:latin typeface="Helvetica Neue"/>
              </a:rPr>
              <a:t>Cost is the usual entry point, and the weakest argument: hosted inference pricing continues to fall.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38328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E8EDF4"/>
                </a:solidFill>
                <a:latin typeface="Helvetica Neue"/>
              </a:rPr>
              <a:t>Data residency does not move. Some workloads cannot use a third-party processor, whatever the price.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9768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E8EDF4"/>
                </a:solidFill>
                <a:latin typeface="Helvetica Neue"/>
              </a:rPr>
              <a:t>Dependency lifecycle does not move either. A hosted model can be withdrawn on the vendor's schedule.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394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4FD1C5"/>
                </a:solidFill>
                <a:latin typeface="Helvetica Neue"/>
              </a:rPr>
              <a:t>During preparation of this talk a hosted model I depended on was retired and the tool built on it stopped working. Nothing in my configuration changed. That is the failure mode local deployment removes.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47120" y="6291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A94A6"/>
                </a:solidFill>
                <a:latin typeface="Helvetica Neue"/>
              </a:rPr>
              <a:t>3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C5"/>
                </a:solidFill>
                <a:latin typeface="Helvetica Neue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1">
                <a:solidFill>
                  <a:srgbClr val="E8EDF4"/>
                </a:solidFill>
                <a:latin typeface="Helvetica Neue"/>
              </a:rPr>
              <a:t>Agenda</a:t>
            </a:r>
          </a:p>
        </p:txBody>
      </p:sp>
      <p:sp>
        <p:nvSpPr>
          <p:cNvPr id="5" name="deckkit-rule"/>
          <p:cNvSpPr/>
          <p:nvPr/>
        </p:nvSpPr>
        <p:spPr>
          <a:xfrm>
            <a:off x="1005840" y="1883664"/>
            <a:ext cx="14630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4FD1C5"/>
                </a:solidFill>
                <a:latin typeface="Menl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031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8EDF4"/>
                </a:solidFill>
                <a:latin typeface="Helvetica Neue"/>
              </a:rPr>
              <a:t>Hardware options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8A94A6"/>
                </a:solidFill>
                <a:latin typeface="Helvetica Neue"/>
              </a:rPr>
              <a:t>cloud, NVIDIA, AMD, Apple — specifications compared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4FD1C5"/>
                </a:solidFill>
                <a:latin typeface="Menlo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5603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8EDF4"/>
                </a:solidFill>
                <a:latin typeface="Helvetica Neue"/>
              </a:rPr>
              <a:t>Platform selection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8A94A6"/>
                </a:solidFill>
                <a:latin typeface="Helvetica Neue"/>
              </a:rPr>
              <a:t>the criteria I applied, and what they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017520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4FD1C5"/>
                </a:solidFill>
                <a:latin typeface="Menlo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175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8EDF4"/>
                </a:solidFill>
                <a:latin typeface="Helvetica Neue"/>
              </a:rPr>
              <a:t>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8A94A6"/>
                </a:solidFill>
                <a:latin typeface="Helvetica Neue"/>
              </a:rPr>
              <a:t>four layers, and the memory model underneath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474720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4FD1C5"/>
                </a:solidFill>
                <a:latin typeface="Menlo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34747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8EDF4"/>
                </a:solidFill>
                <a:latin typeface="Helvetica Neue"/>
              </a:rPr>
              <a:t>Quantization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8A94A6"/>
                </a:solidFill>
                <a:latin typeface="Helvetica Neue"/>
              </a:rPr>
              <a:t>reducing precision to fit available 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931920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4FD1C5"/>
                </a:solidFill>
                <a:latin typeface="Menlo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39319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8EDF4"/>
                </a:solidFill>
                <a:latin typeface="Helvetica Neue"/>
              </a:rPr>
              <a:t>Fine-tuning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8A94A6"/>
                </a:solidFill>
                <a:latin typeface="Helvetica Neue"/>
              </a:rPr>
              <a:t>adapting a model to local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389120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4FD1C5"/>
                </a:solidFill>
                <a:latin typeface="Menlo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43891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8EDF4"/>
                </a:solidFill>
                <a:latin typeface="Helvetica Neue"/>
              </a:rPr>
              <a:t>Demonstration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8A94A6"/>
                </a:solidFill>
                <a:latin typeface="Helvetica Neue"/>
              </a:rPr>
              <a:t>speech recognition, offline, on this laptop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846320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4FD1C5"/>
                </a:solidFill>
                <a:latin typeface="Menlo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48463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8EDF4"/>
                </a:solidFill>
                <a:latin typeface="Helvetica Neue"/>
              </a:rPr>
              <a:t>Demonstration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846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8A94A6"/>
                </a:solidFill>
                <a:latin typeface="Helvetica Neue"/>
              </a:rPr>
              <a:t>a coding agent driving the local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303520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4FD1C5"/>
                </a:solidFill>
                <a:latin typeface="Menlo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53035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8EDF4"/>
                </a:solidFill>
                <a:latin typeface="Helvetica Neue"/>
              </a:rPr>
              <a:t>Limitations and criteria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5303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8A94A6"/>
                </a:solidFill>
                <a:latin typeface="Helvetica Neue"/>
              </a:rPr>
              <a:t>measured shortfalls, and a selection rule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247120" y="6291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A94A6"/>
                </a:solidFill>
                <a:latin typeface="Helvetica Neue"/>
              </a:rPr>
              <a:t>4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C5"/>
                </a:solidFill>
                <a:latin typeface="Helvetica Neue"/>
              </a:rPr>
              <a:t>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1">
                <a:solidFill>
                  <a:srgbClr val="E8EDF4"/>
                </a:solidFill>
                <a:latin typeface="Helvetica Neue"/>
              </a:rPr>
              <a:t>Four deployment options</a:t>
            </a:r>
          </a:p>
        </p:txBody>
      </p:sp>
      <p:sp>
        <p:nvSpPr>
          <p:cNvPr id="5" name="deckkit-rule"/>
          <p:cNvSpPr/>
          <p:nvPr/>
        </p:nvSpPr>
        <p:spPr>
          <a:xfrm>
            <a:off x="1005840" y="1883664"/>
            <a:ext cx="14630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74519" y="4983480"/>
            <a:ext cx="3566160" cy="12700"/>
          </a:xfrm>
          <a:prstGeom prst="rect">
            <a:avLst/>
          </a:prstGeom>
          <a:solidFill>
            <a:srgbClr val="2A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74519" y="2286000"/>
            <a:ext cx="12700" cy="2697480"/>
          </a:xfrm>
          <a:prstGeom prst="rect">
            <a:avLst/>
          </a:prstGeom>
          <a:solidFill>
            <a:srgbClr val="2A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4519" y="5129784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8A94A6"/>
                </a:solidFill>
                <a:latin typeface="Helvetica Neue"/>
              </a:rPr>
              <a:t>MEMORY CAPACITY 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39" y="3086100"/>
            <a:ext cx="822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8A94A6"/>
                </a:solidFill>
                <a:latin typeface="Helvetica Neue"/>
              </a:rPr>
              <a:t>BANDWIDTH  ↑</a:t>
            </a:r>
          </a:p>
        </p:txBody>
      </p:sp>
      <p:sp>
        <p:nvSpPr>
          <p:cNvPr id="10" name="Oval 9"/>
          <p:cNvSpPr/>
          <p:nvPr/>
        </p:nvSpPr>
        <p:spPr>
          <a:xfrm>
            <a:off x="3557015" y="2293315"/>
            <a:ext cx="201168" cy="201168"/>
          </a:xfrm>
          <a:prstGeom prst="ellipse">
            <a:avLst/>
          </a:prstGeom>
          <a:solidFill>
            <a:srgbClr val="8A94A6"/>
          </a:solidFill>
          <a:ln w="19050">
            <a:solidFill>
              <a:srgbClr val="141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22191" y="2247595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A94A6"/>
                </a:solidFill>
                <a:latin typeface="Helvetica Neue"/>
              </a:rPr>
              <a:t>H100, rented</a:t>
            </a:r>
          </a:p>
        </p:txBody>
      </p:sp>
      <p:sp>
        <p:nvSpPr>
          <p:cNvPr id="12" name="Oval 11"/>
          <p:cNvSpPr/>
          <p:nvPr/>
        </p:nvSpPr>
        <p:spPr>
          <a:xfrm>
            <a:off x="2415843" y="3102559"/>
            <a:ext cx="201168" cy="201168"/>
          </a:xfrm>
          <a:prstGeom prst="ellipse">
            <a:avLst/>
          </a:prstGeom>
          <a:solidFill>
            <a:srgbClr val="8A94A6"/>
          </a:solidFill>
          <a:ln w="19050">
            <a:solidFill>
              <a:srgbClr val="141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81019" y="3056839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A94A6"/>
                </a:solidFill>
                <a:latin typeface="Helvetica Neue"/>
              </a:rPr>
              <a:t>RTX 5090</a:t>
            </a:r>
          </a:p>
        </p:txBody>
      </p:sp>
      <p:sp>
        <p:nvSpPr>
          <p:cNvPr id="14" name="Oval 13"/>
          <p:cNvSpPr/>
          <p:nvPr/>
        </p:nvSpPr>
        <p:spPr>
          <a:xfrm>
            <a:off x="3984954" y="3965752"/>
            <a:ext cx="201168" cy="201168"/>
          </a:xfrm>
          <a:prstGeom prst="ellipse">
            <a:avLst/>
          </a:prstGeom>
          <a:solidFill>
            <a:srgbClr val="4FD1C5"/>
          </a:solidFill>
          <a:ln w="19050">
            <a:solidFill>
              <a:srgbClr val="141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0130" y="392003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EDF4"/>
                </a:solidFill>
                <a:latin typeface="Helvetica Neue"/>
              </a:rPr>
              <a:t>Apple M4</a:t>
            </a:r>
          </a:p>
        </p:txBody>
      </p:sp>
      <p:sp>
        <p:nvSpPr>
          <p:cNvPr id="16" name="Oval 15"/>
          <p:cNvSpPr/>
          <p:nvPr/>
        </p:nvSpPr>
        <p:spPr>
          <a:xfrm>
            <a:off x="4805171" y="4721047"/>
            <a:ext cx="201168" cy="201168"/>
          </a:xfrm>
          <a:prstGeom prst="ellipse">
            <a:avLst/>
          </a:prstGeom>
          <a:solidFill>
            <a:srgbClr val="8A94A6"/>
          </a:solidFill>
          <a:ln w="19050">
            <a:solidFill>
              <a:srgbClr val="141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0347" y="4675327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A94A6"/>
                </a:solidFill>
                <a:latin typeface="Helvetica Neue"/>
              </a:rPr>
              <a:t>Ryzen AI Max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33172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D1C5"/>
                </a:solidFill>
                <a:latin typeface="Helvetica Neue"/>
              </a:rPr>
              <a:t>OPTION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331720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D1C5"/>
                </a:solidFill>
                <a:latin typeface="Helvetica Neue"/>
              </a:rPr>
              <a:t>MEMORY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2331720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D1C5"/>
                </a:solidFill>
                <a:latin typeface="Helvetica Neue"/>
              </a:rPr>
              <a:t>BANDWIDTH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2331720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D1C5"/>
                </a:solidFill>
                <a:latin typeface="Helvetica Neue"/>
              </a:rPr>
              <a:t>COST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6560" y="2660904"/>
            <a:ext cx="4983480" cy="12700"/>
          </a:xfrm>
          <a:prstGeom prst="rect">
            <a:avLst/>
          </a:prstGeom>
          <a:solidFill>
            <a:srgbClr val="2A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278892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8EDF4"/>
                </a:solidFill>
                <a:latin typeface="Helvetica Neue"/>
              </a:rPr>
              <a:t>Hosted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788920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A94A6"/>
                </a:solidFill>
                <a:latin typeface="Menlo"/>
              </a:rPr>
              <a:t>unbounded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2788920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A94A6"/>
                </a:solidFill>
                <a:latin typeface="Menlo"/>
              </a:rPr>
              <a:t>n/a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2788920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A94A6"/>
                </a:solidFill>
                <a:latin typeface="Menlo"/>
              </a:rPr>
              <a:t>per token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17296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8EDF4"/>
                </a:solidFill>
                <a:latin typeface="Helvetica Neue"/>
              </a:rPr>
              <a:t>Rented GPU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172968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A94A6"/>
                </a:solidFill>
                <a:latin typeface="Menlo"/>
              </a:rPr>
              <a:t>80 GB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3172968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A94A6"/>
                </a:solidFill>
                <a:latin typeface="Menlo"/>
              </a:rPr>
              <a:t>3350 GB/s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3172968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A94A6"/>
                </a:solidFill>
                <a:latin typeface="Menlo"/>
              </a:rPr>
              <a:t>$1.50-3/hr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55701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8EDF4"/>
                </a:solidFill>
                <a:latin typeface="Helvetica Neue"/>
              </a:rPr>
              <a:t>NVIDIA RTX 5090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3557016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A94A6"/>
                </a:solidFill>
                <a:latin typeface="Menlo"/>
              </a:rPr>
              <a:t>32 GB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55480" y="3557016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A94A6"/>
                </a:solidFill>
                <a:latin typeface="Menlo"/>
              </a:rPr>
              <a:t>highest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3557016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A94A6"/>
                </a:solidFill>
                <a:latin typeface="Menlo"/>
              </a:rPr>
              <a:t>$2-5k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3941064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8EDF4"/>
                </a:solidFill>
                <a:latin typeface="Helvetica Neue"/>
              </a:rPr>
              <a:t>AMD Ryzen AI Max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3941064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A94A6"/>
                </a:solidFill>
                <a:latin typeface="Menlo"/>
              </a:rPr>
              <a:t>128 GB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55480" y="3941064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A94A6"/>
                </a:solidFill>
                <a:latin typeface="Menlo"/>
              </a:rPr>
              <a:t>215 GB/s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394106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A94A6"/>
                </a:solidFill>
                <a:latin typeface="Menlo"/>
              </a:rPr>
              <a:t>$1-2k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432511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FD1C5"/>
                </a:solidFill>
                <a:latin typeface="Helvetica Neue"/>
              </a:rPr>
              <a:t>Apple M4 family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4325112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FD1C5"/>
                </a:solidFill>
                <a:latin typeface="Menlo"/>
              </a:rPr>
              <a:t>32-128 GB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55480" y="4325112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FD1C5"/>
                </a:solidFill>
                <a:latin typeface="Menlo"/>
              </a:rPr>
              <a:t>120-546 GB/s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0" y="4325112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FD1C5"/>
                </a:solidFill>
                <a:latin typeface="Menlo"/>
              </a:rPr>
              <a:t>$1-4k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562356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8A94A6"/>
                </a:solidFill>
                <a:latin typeface="Helvetica Neue"/>
              </a:rPr>
              <a:t>Vendor-published specifications, not measurements from this evaluation. Throughput depends on the model, the quantization and the serving framework, and is measured later on a single machine.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0" y="6291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A94A6"/>
                </a:solidFill>
                <a:latin typeface="Helvetica Neue"/>
              </a:rPr>
              <a:t>5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C5"/>
                </a:solidFill>
                <a:latin typeface="Helvetica Neue"/>
              </a:rPr>
              <a:t>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E8EDF4"/>
                </a:solidFill>
                <a:latin typeface="Helvetica Neue"/>
              </a:rPr>
              <a:t>Platform selection: Apple silicon</a:t>
            </a:r>
          </a:p>
        </p:txBody>
      </p:sp>
      <p:sp>
        <p:nvSpPr>
          <p:cNvPr id="6" name="deckkit-rule"/>
          <p:cNvSpPr/>
          <p:nvPr/>
        </p:nvSpPr>
        <p:spPr>
          <a:xfrm>
            <a:off x="1005840" y="1883664"/>
            <a:ext cx="14630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10149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E8EDF4"/>
                </a:solidFill>
                <a:latin typeface="Helvetica Neue"/>
              </a:rPr>
              <a:t>Capacity over throughput — unified memory sets the model ceiling at installed RAM rather than at a fixed VRAM allocation.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82112"/>
            <a:ext cx="10149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E8EDF4"/>
                </a:solidFill>
                <a:latin typeface="Helvetica Neue"/>
              </a:rPr>
              <a:t>No host-to-device transfer — CPU and GPU address the same physical memory.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986784"/>
            <a:ext cx="10149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E8EDF4"/>
                </a:solidFill>
                <a:latin typeface="Helvetica Neue"/>
              </a:rPr>
              <a:t>Existing hardware — no second machine, no driver stack, no thermal budget to manage.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791456"/>
            <a:ext cx="10149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E8EDF4"/>
                </a:solidFill>
                <a:latin typeface="Helvetica Neue"/>
              </a:rPr>
              <a:t>First-party framework — MLX is published and maintained by Apple, under an MIT licence.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5778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8A94A6"/>
                </a:solidFill>
                <a:latin typeface="Helvetica Neue"/>
              </a:rPr>
              <a:t>The measured cost of this choice: an RTX 5090 delivers substantially higher throughput per token on models that fit in 32 GB. For maximum throughput on a small model, that is the correct selection.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47120" y="6291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A94A6"/>
                </a:solidFill>
                <a:latin typeface="Helvetica Neue"/>
              </a:rPr>
              <a:t>6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C5"/>
                </a:solidFill>
                <a:latin typeface="Helvetica Neue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1">
                <a:solidFill>
                  <a:srgbClr val="E8EDF4"/>
                </a:solidFill>
                <a:latin typeface="Helvetica Neue"/>
              </a:rPr>
              <a:t>Unified memory: the trade</a:t>
            </a:r>
          </a:p>
        </p:txBody>
      </p:sp>
      <p:sp>
        <p:nvSpPr>
          <p:cNvPr id="5" name="deckkit-rule"/>
          <p:cNvSpPr/>
          <p:nvPr/>
        </p:nvSpPr>
        <p:spPr>
          <a:xfrm>
            <a:off x="1005840" y="1883664"/>
            <a:ext cx="14630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4389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8A94A6"/>
                </a:solidFill>
                <a:latin typeface="Helvetica Neue"/>
              </a:rPr>
              <a:t>Discrete GPU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61488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8000"/>
              </a:lnSpc>
            </a:pPr>
            <a:r>
              <a:rPr sz="1800" b="0">
                <a:solidFill>
                  <a:srgbClr val="E8EDF4"/>
                </a:solidFill>
                <a:latin typeface="Helvetica Neue"/>
              </a:rPr>
              <a:t>Weights reside in dedicated VRAM.</a:t>
            </a:r>
          </a:p>
          <a:p>
            <a:pPr algn="l">
              <a:lnSpc>
                <a:spcPct val="138000"/>
              </a:lnSpc>
            </a:pPr>
            <a:r>
              <a:rPr sz="1800" b="0">
                <a:solidFill>
                  <a:srgbClr val="E8EDF4"/>
                </a:solidFill>
                <a:latin typeface="Helvetica Neue"/>
              </a:rPr>
              <a:t>Data crosses PCIe to reach the device.</a:t>
            </a:r>
          </a:p>
          <a:p>
            <a:pPr algn="l">
              <a:lnSpc>
                <a:spcPct val="138000"/>
              </a:lnSpc>
            </a:pPr>
            <a:r>
              <a:rPr sz="1800" b="0">
                <a:solidFill>
                  <a:srgbClr val="E8EDF4"/>
                </a:solidFill>
                <a:latin typeface="Helvetica Neue"/>
              </a:rPr>
              <a:t>Substantially higher bandwidth.</a:t>
            </a:r>
          </a:p>
          <a:p>
            <a:pPr algn="l">
              <a:lnSpc>
                <a:spcPct val="138000"/>
              </a:lnSpc>
            </a:pPr>
            <a:r>
              <a:rPr sz="1800" b="0">
                <a:solidFill>
                  <a:srgbClr val="E8EDF4"/>
                </a:solidFill>
                <a:latin typeface="Helvetica Neue"/>
              </a:rPr>
              <a:t>Fixed capacity ceiling.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240280"/>
            <a:ext cx="4389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4FD1C5"/>
                </a:solidFill>
                <a:latin typeface="Helvetica Neue"/>
              </a:rPr>
              <a:t>Apple silicon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761488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8000"/>
              </a:lnSpc>
            </a:pPr>
            <a:r>
              <a:rPr sz="1800" b="0">
                <a:solidFill>
                  <a:srgbClr val="E8EDF4"/>
                </a:solidFill>
                <a:latin typeface="Helvetica Neue"/>
              </a:rPr>
              <a:t>CPU and GPU share physical memory.</a:t>
            </a:r>
          </a:p>
          <a:p>
            <a:pPr algn="l">
              <a:lnSpc>
                <a:spcPct val="138000"/>
              </a:lnSpc>
            </a:pPr>
            <a:r>
              <a:rPr sz="1800" b="0">
                <a:solidFill>
                  <a:srgbClr val="E8EDF4"/>
                </a:solidFill>
                <a:latin typeface="Helvetica Neue"/>
              </a:rPr>
              <a:t>No host-to-device copy.</a:t>
            </a:r>
          </a:p>
          <a:p>
            <a:pPr algn="l">
              <a:lnSpc>
                <a:spcPct val="138000"/>
              </a:lnSpc>
            </a:pPr>
            <a:r>
              <a:rPr sz="1800" b="0">
                <a:solidFill>
                  <a:srgbClr val="E8EDF4"/>
                </a:solidFill>
                <a:latin typeface="Helvetica Neue"/>
              </a:rPr>
              <a:t>This machine: 120 GB/s.</a:t>
            </a:r>
          </a:p>
          <a:p>
            <a:pPr algn="l">
              <a:lnSpc>
                <a:spcPct val="138000"/>
              </a:lnSpc>
            </a:pPr>
            <a:r>
              <a:rPr sz="1800" b="0">
                <a:solidFill>
                  <a:srgbClr val="E8EDF4"/>
                </a:solidFill>
                <a:latin typeface="Helvetica Neue"/>
              </a:rPr>
              <a:t>Capacity equals installed RAM.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61772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D1C5"/>
                </a:solidFill>
                <a:latin typeface="Helvetica Neue"/>
              </a:rPr>
              <a:t>APPLE CHIP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461772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D1C5"/>
                </a:solidFill>
                <a:latin typeface="Helvetica Neue"/>
              </a:rPr>
              <a:t>BANDWIDTH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461772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D1C5"/>
                </a:solidFill>
                <a:latin typeface="Helvetica Neue"/>
              </a:rPr>
              <a:t>MAX MEMORY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4946904"/>
            <a:ext cx="6858000" cy="12700"/>
          </a:xfrm>
          <a:prstGeom prst="rect">
            <a:avLst/>
          </a:prstGeom>
          <a:solidFill>
            <a:srgbClr val="2A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07492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FD1C5"/>
                </a:solidFill>
                <a:latin typeface="Helvetica Neue"/>
              </a:rPr>
              <a:t>M4  (test platform)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507492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4FD1C5"/>
                </a:solidFill>
                <a:latin typeface="Menlo"/>
              </a:rPr>
              <a:t>120 GB/s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507492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4FD1C5"/>
                </a:solidFill>
                <a:latin typeface="Menlo"/>
              </a:rPr>
              <a:t>32 GB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45896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8EDF4"/>
                </a:solidFill>
                <a:latin typeface="Helvetica Neue"/>
              </a:rPr>
              <a:t>M4 Pro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545896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A94A6"/>
                </a:solidFill>
                <a:latin typeface="Menlo"/>
              </a:rPr>
              <a:t>273 GB/s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545896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A94A6"/>
                </a:solidFill>
                <a:latin typeface="Menlo"/>
              </a:rPr>
              <a:t>64 GB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843016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8EDF4"/>
                </a:solidFill>
                <a:latin typeface="Helvetica Neue"/>
              </a:rPr>
              <a:t>M4 Max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5843016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A94A6"/>
                </a:solidFill>
                <a:latin typeface="Menlo"/>
              </a:rPr>
              <a:t>546 GB/s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5843016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A94A6"/>
                </a:solidFill>
                <a:latin typeface="Menlo"/>
              </a:rPr>
              <a:t>128 GB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47548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4FD1C5"/>
                </a:solidFill>
                <a:latin typeface="Helvetica Neue"/>
              </a:rPr>
              <a:t>Generation rate is bandwidth-bound. Model size is capacity-bound. Capacity determines whether a given model can be loaded at all.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47120" y="6291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A94A6"/>
                </a:solidFill>
                <a:latin typeface="Helvetica Neue"/>
              </a:rPr>
              <a:t>7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C5"/>
                </a:solidFill>
                <a:latin typeface="Helvetica Neue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1">
                <a:solidFill>
                  <a:srgbClr val="E8EDF4"/>
                </a:solidFill>
                <a:latin typeface="Helvetica Neue"/>
              </a:rPr>
              <a:t>The stack, bottom to top</a:t>
            </a:r>
          </a:p>
        </p:txBody>
      </p:sp>
      <p:sp>
        <p:nvSpPr>
          <p:cNvPr id="5" name="deckkit-rule"/>
          <p:cNvSpPr/>
          <p:nvPr/>
        </p:nvSpPr>
        <p:spPr>
          <a:xfrm>
            <a:off x="1005840" y="1883664"/>
            <a:ext cx="14630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2377440"/>
            <a:ext cx="10058400" cy="768096"/>
          </a:xfrm>
          <a:prstGeom prst="rect">
            <a:avLst/>
          </a:prstGeom>
          <a:solidFill>
            <a:srgbClr val="1C2230"/>
          </a:solidFill>
          <a:ln w="15875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569464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4FD1C5"/>
                </a:solidFill>
                <a:latin typeface="Menlo"/>
              </a:rPr>
              <a:t>OpenCode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587752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8A94A6"/>
                </a:solidFill>
                <a:latin typeface="Helvetica Neue"/>
              </a:rPr>
              <a:t>the agent — any client speaking the OpenAI chat protocol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236976"/>
            <a:ext cx="10058400" cy="768096"/>
          </a:xfrm>
          <a:prstGeom prst="rect">
            <a:avLst/>
          </a:prstGeom>
          <a:solidFill>
            <a:srgbClr val="1C2230"/>
          </a:solidFill>
          <a:ln w="15875">
            <a:solidFill>
              <a:srgbClr val="2A3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4290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4FD1C5"/>
                </a:solidFill>
                <a:latin typeface="Menlo"/>
              </a:rPr>
              <a:t>mlx_lm.server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447288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8A94A6"/>
                </a:solidFill>
                <a:latin typeface="Helvetica Neue"/>
              </a:rPr>
              <a:t>OpenAI-compatible HTTP server on localhost, with tool calling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096512"/>
            <a:ext cx="10058400" cy="768096"/>
          </a:xfrm>
          <a:prstGeom prst="rect">
            <a:avLst/>
          </a:prstGeom>
          <a:solidFill>
            <a:srgbClr val="1C2230"/>
          </a:solidFill>
          <a:ln w="15875">
            <a:solidFill>
              <a:srgbClr val="2A3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4288536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4FD1C5"/>
                </a:solidFill>
                <a:latin typeface="Menlo"/>
              </a:rPr>
              <a:t>mlx-lm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4306824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8A94A6"/>
                </a:solidFill>
                <a:latin typeface="Helvetica Neue"/>
              </a:rPr>
              <a:t>load, serve, quantize and fine-tune language models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4956048"/>
            <a:ext cx="10058400" cy="768096"/>
          </a:xfrm>
          <a:prstGeom prst="rect">
            <a:avLst/>
          </a:prstGeom>
          <a:solidFill>
            <a:srgbClr val="1C2230"/>
          </a:solidFill>
          <a:ln w="15875">
            <a:solidFill>
              <a:srgbClr val="2A3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514807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4FD1C5"/>
                </a:solidFill>
                <a:latin typeface="Menlo"/>
              </a:rPr>
              <a:t>mlx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5166360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8A94A6"/>
                </a:solidFill>
                <a:latin typeface="Helvetica Neue"/>
              </a:rPr>
              <a:t>Apple's array framework — Metal kernels, unified 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4FD1C5"/>
                </a:solidFill>
                <a:latin typeface="Helvetica Neue"/>
              </a:rPr>
              <a:t>Integration is one provider block setting the base URL to 127.0.0.1:8080. The client requires no other change.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47120" y="6291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A94A6"/>
                </a:solidFill>
                <a:latin typeface="Helvetica Neue"/>
              </a:rPr>
              <a:t>8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C5"/>
                </a:solidFill>
                <a:latin typeface="Helvetica Neue"/>
              </a:rPr>
              <a:t>QUANTIZATION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1">
                <a:solidFill>
                  <a:srgbClr val="E8EDF4"/>
                </a:solidFill>
                <a:latin typeface="Helvetica Neue"/>
              </a:rPr>
              <a:t>Quantization</a:t>
            </a:r>
          </a:p>
        </p:txBody>
      </p:sp>
      <p:sp>
        <p:nvSpPr>
          <p:cNvPr id="5" name="deckkit-rule"/>
          <p:cNvSpPr/>
          <p:nvPr/>
        </p:nvSpPr>
        <p:spPr>
          <a:xfrm>
            <a:off x="1005840" y="1883664"/>
            <a:ext cx="14630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8A94A6"/>
                </a:solidFill>
                <a:latin typeface="Helvetica Neue"/>
              </a:rPr>
              <a:t>Store each weight at reduced precision. Lower memory footprint, lower bandwidth per token, and a measurable but usually small loss of accuracy.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08376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E8EDF4"/>
                </a:solidFill>
                <a:latin typeface="Helvetica Neue"/>
              </a:rPr>
              <a:t>Qwen3-0.6B, bfloat16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3026664"/>
            <a:ext cx="4389120" cy="310896"/>
          </a:xfrm>
          <a:prstGeom prst="rect">
            <a:avLst/>
          </a:prstGeom>
          <a:solidFill>
            <a:srgbClr val="1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3026664"/>
            <a:ext cx="4389120" cy="310896"/>
          </a:xfrm>
          <a:prstGeom prst="rect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10144" y="2990088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8A94A6"/>
                </a:solidFill>
                <a:latin typeface="Menlo"/>
              </a:rPr>
              <a:t>1.1 GB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03320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E8EDF4"/>
                </a:solidFill>
                <a:latin typeface="Helvetica Neue"/>
              </a:rPr>
              <a:t>the same weights, 4-bit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3721608"/>
            <a:ext cx="4389120" cy="310896"/>
          </a:xfrm>
          <a:prstGeom prst="rect">
            <a:avLst/>
          </a:prstGeom>
          <a:solidFill>
            <a:srgbClr val="1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0" y="3721608"/>
            <a:ext cx="1290229" cy="310896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11253" y="3685032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4ADE80"/>
                </a:solidFill>
                <a:latin typeface="Menlo"/>
              </a:rPr>
              <a:t>331 MB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303580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4FD1C5"/>
                </a:solidFill>
                <a:latin typeface="Helvetica Neue"/>
              </a:rPr>
              <a:t>3.4× smaller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354787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8A94A6"/>
                </a:solidFill>
                <a:latin typeface="Helvetica Neue"/>
              </a:rPr>
              <a:t>at 4.501 bits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8A94A6"/>
                </a:solidFill>
                <a:latin typeface="Helvetica Neue"/>
              </a:rPr>
              <a:t>per weight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526280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D1C5"/>
                </a:solidFill>
                <a:latin typeface="Helvetica Neue"/>
              </a:rPr>
              <a:t>THE RECORDED RUN</a:t>
            </a:r>
          </a:p>
        </p:txBody>
      </p:sp>
      <p:pic>
        <p:nvPicPr>
          <p:cNvPr id="18" name="quantiz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688659" y="4828032"/>
            <a:ext cx="4784202" cy="141732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1247120" y="6291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A94A6"/>
                </a:solidFill>
                <a:latin typeface="Helvetica Neue"/>
              </a:rPr>
              <a:t>9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</p:childTnLst>
        </p:cTn>
      </p:par>
    </p:tnLst>
  </p:timing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C5"/>
                </a:solidFill>
                <a:latin typeface="Helvetica Neue"/>
              </a:rPr>
              <a:t>FINE-TUNING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E8EDF4"/>
                </a:solidFill>
                <a:latin typeface="Helvetica Neue"/>
              </a:rPr>
              <a:t>Fine-tuning with low-rank adapters</a:t>
            </a:r>
          </a:p>
        </p:txBody>
      </p:sp>
      <p:sp>
        <p:nvSpPr>
          <p:cNvPr id="5" name="deckkit-rule"/>
          <p:cNvSpPr/>
          <p:nvPr/>
        </p:nvSpPr>
        <p:spPr>
          <a:xfrm>
            <a:off x="1005840" y="1883664"/>
            <a:ext cx="14630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10149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E8EDF4"/>
                </a:solidFill>
                <a:latin typeface="Helvetica Neue"/>
              </a:rPr>
              <a:t>The base weights are frozen. A small set of new parameters is trained alongside them and saved separately — 5.5 MB, not a second copy of the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310128"/>
            <a:ext cx="10149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E8EDF4"/>
                </a:solidFill>
                <a:latin typeface="Helvetica Neue"/>
              </a:rPr>
              <a:t>The adapter is selected at load time with one flag, so one base model can serve several specialisations.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151376"/>
            <a:ext cx="10149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E8EDF4"/>
                </a:solidFill>
                <a:latin typeface="Helvetica Neue"/>
              </a:rPr>
              <a:t>Training data stays on the machine. No upload, no processor agreement, no retention policy to review.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992624"/>
            <a:ext cx="10149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E8EDF4"/>
                </a:solidFill>
                <a:latin typeface="Helvetica Neue"/>
              </a:rPr>
              <a:t>Scope: this adds facts. It does not add capability — that requires far more data and, usually, a larger base model.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4FD1C5"/>
                </a:solidFill>
                <a:latin typeface="Helvetica Neue"/>
              </a:rPr>
              <a:t>On this machine: 53 examples, about 90 seconds of training. Run live on the next slide.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47120" y="6291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A94A6"/>
                </a:solidFill>
                <a:latin typeface="Helvetica Neue"/>
              </a:rPr>
              <a:t>10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C5"/>
                </a:solidFill>
                <a:latin typeface="Helvetica Neue"/>
              </a:rPr>
              <a:t>FINE-TUNING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1">
                <a:solidFill>
                  <a:srgbClr val="E8EDF4"/>
                </a:solidFill>
                <a:latin typeface="Helvetica Neue"/>
              </a:rPr>
              <a:t>Adapter result, measured</a:t>
            </a:r>
          </a:p>
        </p:txBody>
      </p:sp>
      <p:sp>
        <p:nvSpPr>
          <p:cNvPr id="5" name="deckkit-rule"/>
          <p:cNvSpPr/>
          <p:nvPr/>
        </p:nvSpPr>
        <p:spPr>
          <a:xfrm>
            <a:off x="1005840" y="1883664"/>
            <a:ext cx="14630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21408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D1C5"/>
                </a:solidFill>
                <a:latin typeface="Helvetica Neue"/>
              </a:rPr>
              <a:t>THE RECORDED RUN  —  same prompt before and after</a:t>
            </a:r>
          </a:p>
        </p:txBody>
      </p:sp>
      <p:pic>
        <p:nvPicPr>
          <p:cNvPr id="7" name="finetun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05840" y="2438248"/>
            <a:ext cx="6583680" cy="29873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38160" y="212140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D1C5"/>
                </a:solidFill>
                <a:latin typeface="Helvetica Neue"/>
              </a:rPr>
              <a:t>VALIDATION LOSS</a:t>
            </a:r>
          </a:p>
        </p:txBody>
      </p:sp>
      <p:sp>
        <p:nvSpPr>
          <p:cNvPr id="9" name="Rectangle 8"/>
          <p:cNvSpPr/>
          <p:nvPr/>
        </p:nvSpPr>
        <p:spPr>
          <a:xfrm>
            <a:off x="8503920" y="3977640"/>
            <a:ext cx="2651760" cy="12700"/>
          </a:xfrm>
          <a:prstGeom prst="rect">
            <a:avLst/>
          </a:prstGeom>
          <a:solidFill>
            <a:srgbClr val="2A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03920" y="2606040"/>
            <a:ext cx="12700" cy="1371600"/>
          </a:xfrm>
          <a:prstGeom prst="rect">
            <a:avLst/>
          </a:prstGeom>
          <a:solidFill>
            <a:srgbClr val="2A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3077519">
            <a:off x="8503920" y="2665972"/>
            <a:ext cx="385493" cy="254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3444482">
            <a:off x="8744989" y="2966789"/>
            <a:ext cx="497266" cy="254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1288798">
            <a:off x="9012843" y="3385750"/>
            <a:ext cx="268956" cy="254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68001">
            <a:off x="9280698" y="3361436"/>
            <a:ext cx="267906" cy="254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4004">
            <a:off x="9548552" y="3366735"/>
            <a:ext cx="267855" cy="254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175883">
            <a:off x="9816407" y="3367047"/>
            <a:ext cx="268204" cy="254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402231">
            <a:off x="10084261" y="3380763"/>
            <a:ext cx="269698" cy="254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543544">
            <a:off x="10352116" y="3412247"/>
            <a:ext cx="271237" cy="254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1328503">
            <a:off x="10619970" y="3454954"/>
            <a:ext cx="268692" cy="254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87999">
            <a:off x="10887825" y="3433756"/>
            <a:ext cx="267942" cy="254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53120" y="2627872"/>
            <a:ext cx="101600" cy="101600"/>
          </a:xfrm>
          <a:prstGeom prst="ellipse">
            <a:avLst/>
          </a:prstGeom>
          <a:solidFill>
            <a:srgbClr val="4FD1C5"/>
          </a:solidFill>
          <a:ln w="19050">
            <a:solidFill>
              <a:srgbClr val="141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104880" y="3402514"/>
            <a:ext cx="101600" cy="101600"/>
          </a:xfrm>
          <a:prstGeom prst="ellipse">
            <a:avLst/>
          </a:prstGeom>
          <a:solidFill>
            <a:srgbClr val="4FD1C5"/>
          </a:solidFill>
          <a:ln w="19050">
            <a:solidFill>
              <a:srgbClr val="141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8120" y="248716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4FD1C5"/>
                </a:solidFill>
                <a:latin typeface="Menlo"/>
              </a:rPr>
              <a:t>4.167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3749039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4FD1C5"/>
                </a:solidFill>
                <a:latin typeface="Menlo"/>
              </a:rPr>
              <a:t>1.682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4069080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94A6"/>
                </a:solidFill>
                <a:latin typeface="Helvetica Neue"/>
              </a:rPr>
              <a:t>iteration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4069080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94A6"/>
                </a:solidFill>
                <a:latin typeface="Helvetica Neue"/>
              </a:rPr>
              <a:t>100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4526280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D1C5"/>
                </a:solidFill>
                <a:latin typeface="Helvetica Neue"/>
              </a:rPr>
              <a:t>WALL CLOCK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452628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D1C5"/>
                </a:solidFill>
                <a:latin typeface="Helvetica Neue"/>
              </a:rPr>
              <a:t>PEAK MEMORY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61320" y="4526280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D1C5"/>
                </a:solidFill>
                <a:latin typeface="Helvetica Neue"/>
              </a:rPr>
              <a:t>ADAPTER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4855464"/>
            <a:ext cx="3474720" cy="12700"/>
          </a:xfrm>
          <a:prstGeom prst="rect">
            <a:avLst/>
          </a:prstGeom>
          <a:solidFill>
            <a:srgbClr val="2A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4983480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FD1C5"/>
                </a:solidFill>
                <a:latin typeface="Helvetica Neue"/>
              </a:rPr>
              <a:t>~90 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498348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4FD1C5"/>
                </a:solidFill>
                <a:latin typeface="Menlo"/>
              </a:rPr>
              <a:t>1.5 GB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61320" y="4983480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4FD1C5"/>
                </a:solidFill>
                <a:latin typeface="Menlo"/>
              </a:rPr>
              <a:t>5.5 MB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66928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8A94A6"/>
                </a:solidFill>
                <a:latin typeface="Helvetica Neue"/>
              </a:rPr>
              <a:t>53 examples demonstrates the mechanism; it is not a production training set. The plateau after iteration 20 is the dataset being exhausted.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291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A94A6"/>
                </a:solidFill>
                <a:latin typeface="Helvetica Neue"/>
              </a:rPr>
              <a:t>11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6692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C5"/>
                </a:solidFill>
                <a:latin typeface="Helvetica Neue"/>
              </a:rPr>
              <a:t>DEMONSTRATION 1 — RECORDED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96012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4000"/>
              </a:lnSpc>
            </a:pPr>
            <a:r>
              <a:rPr sz="3200" b="1">
                <a:solidFill>
                  <a:srgbClr val="E8EDF4"/>
                </a:solidFill>
                <a:latin typeface="Helvetica Neue"/>
              </a:rPr>
              <a:t>Speech recognition, network disabled</a:t>
            </a:r>
          </a:p>
        </p:txBody>
      </p:sp>
      <p:pic>
        <p:nvPicPr>
          <p:cNvPr id="6" name="transcrib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05840" y="2237708"/>
            <a:ext cx="10149840" cy="24740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05840" y="585216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8A94A6"/>
                </a:solidFill>
                <a:latin typeface="Menlo"/>
              </a:rPr>
              <a:t>whisper-large-v3, 2.9 GiB on disk, no credentials  ·  real run on this laptop, pauses shortened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291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A94A6"/>
                </a:solidFill>
                <a:latin typeface="Helvetica Neue"/>
              </a:rPr>
              <a:t>12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C5"/>
                </a:solidFill>
                <a:latin typeface="Helvetica Neue"/>
              </a:rPr>
              <a:t>DEMONSTRATION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1">
                <a:solidFill>
                  <a:srgbClr val="E8EDF4"/>
                </a:solidFill>
                <a:latin typeface="Helvetica Neue"/>
              </a:rPr>
              <a:t>Transcription results</a:t>
            </a:r>
          </a:p>
        </p:txBody>
      </p:sp>
      <p:sp>
        <p:nvSpPr>
          <p:cNvPr id="5" name="deckkit-rule"/>
          <p:cNvSpPr/>
          <p:nvPr/>
        </p:nvSpPr>
        <p:spPr>
          <a:xfrm>
            <a:off x="1005840" y="1883664"/>
            <a:ext cx="14630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68296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E8EDF4"/>
                </a:solidFill>
                <a:latin typeface="Helvetica Neue"/>
              </a:rPr>
              <a:t>audio, as recorded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2386584"/>
            <a:ext cx="3108960" cy="310896"/>
          </a:xfrm>
          <a:prstGeom prst="rect">
            <a:avLst/>
          </a:prstGeom>
          <a:solidFill>
            <a:srgbClr val="1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0" y="2386584"/>
            <a:ext cx="3108960" cy="310896"/>
          </a:xfrm>
          <a:prstGeom prst="rect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9984" y="2350008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8A94A6"/>
                </a:solidFill>
                <a:latin typeface="Menlo"/>
              </a:rPr>
              <a:t>359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63240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E8EDF4"/>
                </a:solidFill>
                <a:latin typeface="Helvetica Neue"/>
              </a:rPr>
              <a:t>time to transcribe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3081528"/>
            <a:ext cx="3108960" cy="310896"/>
          </a:xfrm>
          <a:prstGeom prst="rect">
            <a:avLst/>
          </a:prstGeom>
          <a:solidFill>
            <a:srgbClr val="1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3081528"/>
            <a:ext cx="476303" cy="310896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97327" y="3044952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4ADE80"/>
                </a:solidFill>
                <a:latin typeface="Menlo"/>
              </a:rPr>
              <a:t>55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2359152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4200" b="1">
                <a:solidFill>
                  <a:srgbClr val="4ADE80"/>
                </a:solidFill>
                <a:latin typeface="Helvetica Neue"/>
              </a:rPr>
              <a:t>6.5×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309067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8A94A6"/>
                </a:solidFill>
                <a:latin typeface="Helvetica Neue"/>
              </a:rPr>
              <a:t>faster than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8A94A6"/>
                </a:solidFill>
                <a:latin typeface="Helvetica Neue"/>
              </a:rPr>
              <a:t>realtime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069080"/>
            <a:ext cx="3291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E8EDF4"/>
                </a:solidFill>
                <a:latin typeface="Helvetica Neue"/>
              </a:rPr>
              <a:t>1103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855464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A94A6"/>
                </a:solidFill>
                <a:latin typeface="Helvetica Neue"/>
              </a:rPr>
              <a:t>words — and two runs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8A94A6"/>
                </a:solidFill>
                <a:latin typeface="Helvetica Neue"/>
              </a:rPr>
              <a:t>produced identical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4069080"/>
            <a:ext cx="29260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4FD1C5"/>
                </a:solidFill>
                <a:latin typeface="Helvetica Neue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4855464"/>
            <a:ext cx="2926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A94A6"/>
                </a:solidFill>
                <a:latin typeface="Helvetica Neue"/>
              </a:rPr>
              <a:t>bytes transmitted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8A94A6"/>
                </a:solidFill>
                <a:latin typeface="Helvetica Neue"/>
              </a:rPr>
              <a:t>off the machine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69080"/>
            <a:ext cx="31089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E8EDF4"/>
                </a:solidFill>
                <a:latin typeface="Helvetica Neue"/>
              </a:rPr>
              <a:t>15 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855464"/>
            <a:ext cx="3108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A94A6"/>
                </a:solidFill>
                <a:latin typeface="Helvetica Neue"/>
              </a:rPr>
              <a:t>to transcribe 100 hours,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8A94A6"/>
                </a:solidFill>
                <a:latin typeface="Helvetica Neue"/>
              </a:rPr>
              <a:t>unattended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897880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E8EDF4"/>
                </a:solidFill>
                <a:latin typeface="Helvetica Neue"/>
              </a:rPr>
              <a:t>Deterministic for a given input, which is what permits use in a pipeline.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1247120" y="6291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A94A6"/>
                </a:solidFill>
                <a:latin typeface="Helvetica Neue"/>
              </a:rPr>
              <a:t>13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6692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C5"/>
                </a:solidFill>
                <a:latin typeface="Helvetica Neue"/>
              </a:rPr>
              <a:t>DEMONSTRATION 2 — RECORDED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96012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4000"/>
              </a:lnSpc>
            </a:pPr>
            <a:r>
              <a:rPr sz="3200" b="1">
                <a:solidFill>
                  <a:srgbClr val="E8EDF4"/>
                </a:solidFill>
                <a:latin typeface="Helvetica Neue"/>
              </a:rPr>
              <a:t>A coding agent on the local model</a:t>
            </a:r>
          </a:p>
        </p:txBody>
      </p:sp>
      <p:pic>
        <p:nvPicPr>
          <p:cNvPr id="6" name="agent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05840" y="2237708"/>
            <a:ext cx="10149840" cy="24740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05840" y="585216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8A94A6"/>
                </a:solidFill>
                <a:latin typeface="Menlo"/>
              </a:rPr>
              <a:t>OpenCode, base URL 127.0.0.1:8080  ·  real run on this laptop, pauses shortened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291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A94A6"/>
                </a:solidFill>
                <a:latin typeface="Helvetica Neue"/>
              </a:rPr>
              <a:t>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C5"/>
                </a:solidFill>
                <a:latin typeface="Helvetica Neue"/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1">
                <a:solidFill>
                  <a:srgbClr val="E8EDF4"/>
                </a:solidFill>
                <a:latin typeface="Helvetica Neue"/>
              </a:rPr>
              <a:t>Measured limitations</a:t>
            </a:r>
          </a:p>
        </p:txBody>
      </p:sp>
      <p:sp>
        <p:nvSpPr>
          <p:cNvPr id="5" name="deckkit-rule"/>
          <p:cNvSpPr/>
          <p:nvPr/>
        </p:nvSpPr>
        <p:spPr>
          <a:xfrm>
            <a:off x="1005840" y="1883664"/>
            <a:ext cx="14630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10149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E8EDF4"/>
                </a:solidFill>
                <a:latin typeface="Helvetica Neue"/>
              </a:rPr>
              <a:t>Slower — 61 s for a question a frontier model answers in a few.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81528"/>
            <a:ext cx="10149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E8EDF4"/>
                </a:solidFill>
                <a:latin typeface="Helvetica Neue"/>
              </a:rPr>
              <a:t>Demonstration 1 — a transcription exited 0 with one phrase repeated 19 times.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31336"/>
            <a:ext cx="10149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E8EDF4"/>
                </a:solidFill>
                <a:latin typeface="Helvetica Neue"/>
              </a:rPr>
              <a:t>Demonstration 2 — a generated script returned 67 for 6 × 7; its summary said 42.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581144"/>
            <a:ext cx="10149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E8EDF4"/>
                </a:solidFill>
                <a:latin typeface="Helvetica Neue"/>
              </a:rPr>
              <a:t>Capacity — 16 GB is shared with the OS, so the strongest coding models do not fit.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330952"/>
            <a:ext cx="10149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E8EDF4"/>
                </a:solidFill>
                <a:latin typeface="Helvetica Neue"/>
              </a:rPr>
              <a:t>Reliability — the model server stopped responding three times under sustained use.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806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4FD1C5"/>
                </a:solidFill>
                <a:latin typeface="Helvetica Neue"/>
              </a:rPr>
              <a:t>Neither defect announced itself, so output has to be checked. Local inference does not substitute for a frontier model here — the workable claim is next.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247120" y="6291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A94A6"/>
                </a:solidFill>
                <a:latin typeface="Helvetica Neue"/>
              </a:rPr>
              <a:t>15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ADE80"/>
                </a:solidFill>
                <a:latin typeface="Helvetica Neue"/>
              </a:rPr>
              <a:t>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1">
                <a:solidFill>
                  <a:srgbClr val="E8EDF4"/>
                </a:solidFill>
                <a:latin typeface="Helvetica Neue"/>
              </a:rPr>
              <a:t>Selection criteria</a:t>
            </a:r>
          </a:p>
        </p:txBody>
      </p:sp>
      <p:sp>
        <p:nvSpPr>
          <p:cNvPr id="6" name="deckkit-rule"/>
          <p:cNvSpPr/>
          <p:nvPr/>
        </p:nvSpPr>
        <p:spPr>
          <a:xfrm>
            <a:off x="1005840" y="1883664"/>
            <a:ext cx="1463040" cy="381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8A94A6"/>
                </a:solidFill>
                <a:latin typeface="Helvetica Neue"/>
              </a:rPr>
              <a:t>Run a workload locally when all three conditions hold: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80360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4ADE80"/>
                </a:solidFill>
                <a:latin typeface="Menl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880360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E8EDF4"/>
                </a:solidFill>
                <a:latin typeface="Helvetica Neue"/>
              </a:rPr>
              <a:t>The task is bounded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880360"/>
            <a:ext cx="4480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8A94A6"/>
                </a:solidFill>
                <a:latin typeface="Helvetica Neue"/>
              </a:rPr>
              <a:t>transcription, extraction, classification, redaction — specified inputs and outputs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21608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4ADE80"/>
                </a:solidFill>
                <a:latin typeface="Menl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721608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E8EDF4"/>
                </a:solidFill>
                <a:latin typeface="Helvetica Neue"/>
              </a:rPr>
              <a:t>Volume is high, or the data is restricted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721608"/>
            <a:ext cx="4480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8A94A6"/>
                </a:solidFill>
                <a:latin typeface="Helvetica Neue"/>
              </a:rPr>
              <a:t>either condition alone is sufficient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62856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4ADE80"/>
                </a:solidFill>
                <a:latin typeface="Menlo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4562856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E8EDF4"/>
                </a:solidFill>
                <a:latin typeface="Helvetica Neue"/>
              </a:rPr>
              <a:t>The output can be checked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562856"/>
            <a:ext cx="4480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8A94A6"/>
                </a:solidFill>
                <a:latin typeface="Helvetica Neue"/>
              </a:rPr>
              <a:t>an automated gate or a reviewer — otherwise the result is unverified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6692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4ADE80"/>
                </a:solidFill>
                <a:latin typeface="Helvetica Neue"/>
              </a:rPr>
              <a:t>Every other workload continues to use a hosted model. This is a routing decision applied per workload, not a platform migration.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47120" y="6291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A94A6"/>
                </a:solidFill>
                <a:latin typeface="Helvetica Neue"/>
              </a:rPr>
              <a:t>16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C5"/>
                </a:solidFill>
                <a:latin typeface="Helvetica Neue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1">
                <a:solidFill>
                  <a:srgbClr val="E8EDF4"/>
                </a:solidFill>
                <a:latin typeface="Helvetica Neue"/>
              </a:rPr>
              <a:t>References</a:t>
            </a:r>
          </a:p>
        </p:txBody>
      </p:sp>
      <p:sp>
        <p:nvSpPr>
          <p:cNvPr id="5" name="deckkit-rule"/>
          <p:cNvSpPr/>
          <p:nvPr/>
        </p:nvSpPr>
        <p:spPr>
          <a:xfrm>
            <a:off x="1005840" y="1883664"/>
            <a:ext cx="14630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D1C5"/>
                </a:solidFill>
                <a:latin typeface="Helvetica Neue"/>
              </a:rPr>
              <a:t>APPLE — FRAMEWORK DOCUMENTATION, AND THE SPECIFICATIONS ON SLIDES 5 AND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468880"/>
            <a:ext cx="9784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A94A6"/>
                </a:solidFill>
                <a:latin typeface="Menlo"/>
              </a:rPr>
              <a:t>developer.apple.com/videos — WWDC26 session 232; WWDC25 sessions 298, 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852928"/>
            <a:ext cx="9784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A94A6"/>
                </a:solidFill>
                <a:latin typeface="Menlo"/>
              </a:rPr>
              <a:t>apple.com/newsroom — M4 family memory bandwidth and capacity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1985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D1C5"/>
                </a:solidFill>
                <a:latin typeface="Helvetica Neue"/>
              </a:rPr>
              <a:t>TOOLING — ALL OPEN 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785616"/>
            <a:ext cx="9784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A94A6"/>
                </a:solidFill>
                <a:latin typeface="Menlo"/>
              </a:rPr>
              <a:t>github.com/ml-explore/mlx   ·   github.com/ml-explore/mlx-lm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169664"/>
            <a:ext cx="9784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A94A6"/>
                </a:solidFill>
                <a:latin typeface="Menlo"/>
              </a:rPr>
              <a:t>huggingface.co/mlx-community — models converted for Apple silicon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553712"/>
            <a:ext cx="9784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A94A6"/>
                </a:solidFill>
                <a:latin typeface="Menlo"/>
              </a:rPr>
              <a:t>opencode.ai — the agent used in demonstration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D1C5"/>
                </a:solidFill>
                <a:latin typeface="Helvetica Neue"/>
              </a:rPr>
              <a:t>OTHER VENDORS' SPECIFICATIONS QUOTED ON SLIDE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486400"/>
            <a:ext cx="9784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A94A6"/>
                </a:solidFill>
                <a:latin typeface="Menlo"/>
              </a:rPr>
              <a:t>nvidia.com — GeForce RTX 5090 memory configuration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870448"/>
            <a:ext cx="9784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A94A6"/>
                </a:solidFill>
                <a:latin typeface="Menlo"/>
              </a:rPr>
              <a:t>amd.com — Ryzen AI Max memory specifications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217920"/>
            <a:ext cx="8686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E8EDF4"/>
                </a:solidFill>
                <a:latin typeface="Helvetica Neue"/>
              </a:rPr>
              <a:t>Every command in this talk appears on screen in the recordings.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291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A94A6"/>
                </a:solidFill>
                <a:latin typeface="Helvetica Neue"/>
              </a:rPr>
              <a:t>17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4884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E8EDF4"/>
                </a:solidFill>
                <a:latin typeface="Helvetica Neue"/>
              </a:rPr>
              <a:t>Thank you</a:t>
            </a:r>
          </a:p>
        </p:txBody>
      </p:sp>
      <p:sp>
        <p:nvSpPr>
          <p:cNvPr id="5" name="deckkit-rule"/>
          <p:cNvSpPr/>
          <p:nvPr/>
        </p:nvSpPr>
        <p:spPr>
          <a:xfrm>
            <a:off x="1005840" y="3337560"/>
            <a:ext cx="201168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794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4FD1C5"/>
                </a:solidFill>
                <a:latin typeface="Helvetica Neue"/>
              </a:rPr>
              <a:t>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80644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8A94A6"/>
                </a:solidFill>
                <a:latin typeface="Helvetica Neue"/>
              </a:rPr>
              <a:t>Mohamed Sorour   ·   Senior DevOps Engineer, Vezeeta   ·   DevOpsDays Cairo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291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A94A6"/>
                </a:solidFill>
                <a:latin typeface="Helvetica Neue"/>
              </a:rPr>
              <a:t>18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