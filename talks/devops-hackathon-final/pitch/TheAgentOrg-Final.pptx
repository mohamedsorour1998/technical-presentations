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463040"/>
            <a:ext cx="10149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4000"/>
              </a:lnSpc>
            </a:pPr>
            <a:r>
              <a:rPr sz="4800" b="1">
                <a:solidFill>
                  <a:srgbClr val="E8ECF3"/>
                </a:solidFill>
                <a:latin typeface="Helvetica Neue"/>
              </a:rPr>
              <a:t>SECURITY GATES FOR</a:t>
            </a:r>
          </a:p>
          <a:p>
            <a:pPr algn="l">
              <a:lnSpc>
                <a:spcPct val="104000"/>
              </a:lnSpc>
            </a:pPr>
            <a:r>
              <a:rPr sz="4800" b="1">
                <a:solidFill>
                  <a:srgbClr val="E8ECF3"/>
                </a:solidFill>
                <a:latin typeface="Helvetica Neue"/>
              </a:rPr>
              <a:t>AGENT-WRITTEN CODE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3291840"/>
            <a:ext cx="2377440" cy="381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3657600"/>
            <a:ext cx="9692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0">
                <a:solidFill>
                  <a:srgbClr val="8B97AB"/>
                </a:solidFill>
                <a:latin typeface="Helvetica Neue"/>
              </a:rPr>
              <a:t>Five agents take a ticket to a pull request. Three human gates and one deterministic rule decide whether it ships.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52120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2D3EE"/>
                </a:solidFill>
                <a:latin typeface="Menlo"/>
              </a:rPr>
              <a:t>THE AGENT ORG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623560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8B97AB"/>
                </a:solidFill>
                <a:latin typeface="Helvetica Neue"/>
              </a:rPr>
              <a:t>DevOps Hackathon Finals 2026 · TD63 RosettaTeam</a:t>
            </a:r>
          </a:p>
          <a:p>
            <a:pPr algn="l">
              <a:lnSpc>
                <a:spcPct val="140000"/>
              </a:lnSpc>
            </a:pPr>
            <a:r>
              <a:rPr sz="1400" b="0">
                <a:solidFill>
                  <a:srgbClr val="8B97AB"/>
                </a:solidFill>
                <a:latin typeface="Helvetica Neue"/>
              </a:rPr>
              <a:t>Mohamed Sorour · Mariam · Habiba · Reem · Aya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29107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8B97AB"/>
                </a:solidFill>
                <a:latin typeface="Helvetica Neue"/>
              </a:rPr>
              <a:t>1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658368"/>
            <a:ext cx="10149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2D3EE"/>
                </a:solidFill>
                <a:latin typeface="Helvetica Neue"/>
              </a:rPr>
              <a:t>THE TEAM · TD63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78992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3200" b="1">
                <a:solidFill>
                  <a:srgbClr val="E8ECF3"/>
                </a:solidFill>
                <a:latin typeface="Helvetica Neue"/>
              </a:rPr>
              <a:t>RosettaTeam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883664"/>
            <a:ext cx="1463040" cy="381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orou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8156" y="2148840"/>
            <a:ext cx="1325880" cy="1325880"/>
          </a:xfrm>
          <a:prstGeom prst="ellipse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05840" y="3611880"/>
            <a:ext cx="18105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E8ECF3"/>
                </a:solidFill>
                <a:latin typeface="Helvetica Neue"/>
              </a:rPr>
              <a:t>Mohamed Sorour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005072"/>
            <a:ext cx="18105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0">
                <a:solidFill>
                  <a:srgbClr val="8B97AB"/>
                </a:solidFill>
                <a:latin typeface="Helvetica Neue"/>
              </a:rPr>
              <a:t>Senior DevOps Engineer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590288"/>
            <a:ext cx="18105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22D3EE"/>
                </a:solidFill>
                <a:latin typeface="Menlo"/>
              </a:rPr>
              <a:t>VEZEETA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919472"/>
            <a:ext cx="18105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8B97AB"/>
                </a:solidFill>
                <a:latin typeface="Helvetica Neue"/>
              </a:rPr>
              <a:t>Aiming for an MSc in Computer Science, AI specialization · Georgia Tech</a:t>
            </a:r>
          </a:p>
        </p:txBody>
      </p:sp>
      <p:pic>
        <p:nvPicPr>
          <p:cNvPr id="11" name="Picture 10" descr="mariam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2988" y="2148840"/>
            <a:ext cx="1325880" cy="1325880"/>
          </a:xfrm>
          <a:prstGeom prst="ellipse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090672" y="3611880"/>
            <a:ext cx="18105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E8ECF3"/>
                </a:solidFill>
                <a:latin typeface="Helvetica Neue"/>
              </a:rPr>
              <a:t>Mariam Abdelkader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90672" y="4005072"/>
            <a:ext cx="18105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0">
                <a:solidFill>
                  <a:srgbClr val="8B97AB"/>
                </a:solidFill>
                <a:latin typeface="Helvetica Neue"/>
              </a:rPr>
              <a:t>Associate Solution Engineer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90672" y="4590288"/>
            <a:ext cx="18105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22D3EE"/>
                </a:solidFill>
                <a:latin typeface="Menlo"/>
              </a:rPr>
              <a:t>RENOSYSTEMS</a:t>
            </a:r>
          </a:p>
        </p:txBody>
      </p:sp>
      <p:pic>
        <p:nvPicPr>
          <p:cNvPr id="15" name="Picture 14" descr="habiba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7820" y="2148840"/>
            <a:ext cx="1325880" cy="1325880"/>
          </a:xfrm>
          <a:prstGeom prst="ellipse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175504" y="3611880"/>
            <a:ext cx="18105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E8ECF3"/>
                </a:solidFill>
                <a:latin typeface="Helvetica Neue"/>
              </a:rPr>
              <a:t>Habiba Megahed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75504" y="4005072"/>
            <a:ext cx="18105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0">
                <a:solidFill>
                  <a:srgbClr val="8B97AB"/>
                </a:solidFill>
                <a:latin typeface="Helvetica Neue"/>
              </a:rPr>
              <a:t>Junior DevOps Engineer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75504" y="4590288"/>
            <a:ext cx="18105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22D3EE"/>
                </a:solidFill>
                <a:latin typeface="Menlo"/>
              </a:rPr>
              <a:t>DIGILIANS ALUM</a:t>
            </a:r>
          </a:p>
        </p:txBody>
      </p:sp>
      <p:pic>
        <p:nvPicPr>
          <p:cNvPr id="19" name="Picture 18" descr="reem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2652" y="2148840"/>
            <a:ext cx="1325880" cy="1325880"/>
          </a:xfrm>
          <a:prstGeom prst="ellipse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260336" y="3611880"/>
            <a:ext cx="18105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E8ECF3"/>
                </a:solidFill>
                <a:latin typeface="Helvetica Neue"/>
              </a:rPr>
              <a:t>Reem Shkeep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60336" y="4005072"/>
            <a:ext cx="18105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0">
                <a:solidFill>
                  <a:srgbClr val="8B97AB"/>
                </a:solidFill>
                <a:latin typeface="Helvetica Neue"/>
              </a:rPr>
              <a:t>Junior Testing Engineer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60336" y="4590288"/>
            <a:ext cx="18105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22D3EE"/>
                </a:solidFill>
                <a:latin typeface="Menlo"/>
              </a:rPr>
              <a:t>DIGILIANS ALUM</a:t>
            </a:r>
          </a:p>
        </p:txBody>
      </p:sp>
      <p:pic>
        <p:nvPicPr>
          <p:cNvPr id="23" name="Picture 22" descr="aya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87484" y="2148840"/>
            <a:ext cx="1325880" cy="1325880"/>
          </a:xfrm>
          <a:prstGeom prst="ellipse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345168" y="3611880"/>
            <a:ext cx="18105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E8ECF3"/>
                </a:solidFill>
                <a:latin typeface="Helvetica Neue"/>
              </a:rPr>
              <a:t>Aya Ebrahim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45168" y="4005072"/>
            <a:ext cx="18105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0">
                <a:solidFill>
                  <a:srgbClr val="8B97AB"/>
                </a:solidFill>
                <a:latin typeface="Helvetica Neue"/>
              </a:rPr>
              <a:t>Junior Testing Engineer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45168" y="4590288"/>
            <a:ext cx="18105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22D3EE"/>
                </a:solidFill>
                <a:latin typeface="Menlo"/>
              </a:rPr>
              <a:t>DIGILIANS ALUM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5852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8B97AB"/>
                </a:solidFill>
                <a:latin typeface="Helvetica Neue"/>
              </a:rPr>
              <a:t>The work is divided by file rather than by feature, which is how fourteen parallel workstreams landed without collisions.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47120" y="629107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8B97AB"/>
                </a:solidFill>
                <a:latin typeface="Helvetica Neue"/>
              </a:rPr>
              <a:t>2</a:t>
            </a:r>
          </a:p>
        </p:txBody>
      </p:sp>
    </p:spTree>
  </p:cSld>
  <p:clrMapOvr>
    <a:masterClrMapping/>
  </p:clrMapOvr>
  <p:transition spd="med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658368"/>
            <a:ext cx="10149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2D3EE"/>
                </a:solidFill>
                <a:latin typeface="Helvetica Neue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78992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3200" b="1">
                <a:solidFill>
                  <a:srgbClr val="E8ECF3"/>
                </a:solidFill>
                <a:latin typeface="Helvetica Neue"/>
              </a:rPr>
              <a:t>Twenty minutes, in this order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883664"/>
            <a:ext cx="1463040" cy="381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548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22D3EE"/>
                </a:solidFill>
                <a:latin typeface="Menlo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103120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E8ECF3"/>
                </a:solidFill>
                <a:latin typeface="Helvetica Neue"/>
              </a:rPr>
              <a:t>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2121408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8B97AB"/>
                </a:solidFill>
                <a:latin typeface="Helvetica Neue"/>
              </a:rPr>
              <a:t>the problem, the pipeline, and why the gate is not a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2121408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0">
                <a:solidFill>
                  <a:srgbClr val="8B97AB"/>
                </a:solidFill>
                <a:latin typeface="Menlo"/>
              </a:rPr>
              <a:t>3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596896"/>
            <a:ext cx="548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22D3EE"/>
                </a:solidFill>
                <a:latin typeface="Menlo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2596896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E8ECF3"/>
                </a:solidFill>
                <a:latin typeface="Helvetica Neue"/>
              </a:rPr>
              <a:t>Architecture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615184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8B97AB"/>
                </a:solidFill>
                <a:latin typeface="Helvetica Neue"/>
              </a:rPr>
              <a:t>what runs where, on AWS and on GitHub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261518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0">
                <a:solidFill>
                  <a:srgbClr val="8B97AB"/>
                </a:solidFill>
                <a:latin typeface="Menlo"/>
              </a:rPr>
              <a:t>1 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090672"/>
            <a:ext cx="548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22D3EE"/>
                </a:solidFill>
                <a:latin typeface="Menlo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3090672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E8ECF3"/>
                </a:solidFill>
                <a:latin typeface="Helvetica Neue"/>
              </a:rPr>
              <a:t>Business impact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3108960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8B97AB"/>
                </a:solidFill>
                <a:latin typeface="Helvetica Neue"/>
              </a:rPr>
              <a:t>what a change costs, and what it buys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3108960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0">
                <a:solidFill>
                  <a:srgbClr val="8B97AB"/>
                </a:solidFill>
                <a:latin typeface="Menlo"/>
              </a:rPr>
              <a:t>1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584448"/>
            <a:ext cx="548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22D3EE"/>
                </a:solidFill>
                <a:latin typeface="Menlo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3584448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E8ECF3"/>
                </a:solidFill>
                <a:latin typeface="Helvetica Neue"/>
              </a:rPr>
              <a:t>Differentiation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3602736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8B97AB"/>
                </a:solidFill>
                <a:latin typeface="Helvetica Neue"/>
              </a:rPr>
              <a:t>what vendors say about their own AI 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3602736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0">
                <a:solidFill>
                  <a:srgbClr val="8B97AB"/>
                </a:solidFill>
                <a:latin typeface="Menlo"/>
              </a:rPr>
              <a:t>1 min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078224"/>
            <a:ext cx="548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22D3EE"/>
                </a:solidFill>
                <a:latin typeface="Menlo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4078224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E8ECF3"/>
                </a:solidFill>
                <a:latin typeface="Helvetica Neue"/>
              </a:rPr>
              <a:t>Progress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4096512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8B97AB"/>
                </a:solidFill>
                <a:latin typeface="Helvetica Neue"/>
              </a:rPr>
              <a:t>what is built, your ten notes, and what it does not do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0" y="4096512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0">
                <a:solidFill>
                  <a:srgbClr val="8B97AB"/>
                </a:solidFill>
                <a:latin typeface="Menlo"/>
              </a:rPr>
              <a:t>2 min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4572000"/>
            <a:ext cx="548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22D3EE"/>
                </a:solidFill>
                <a:latin typeface="Menlo"/>
              </a:rP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45920" y="4572000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E8ECF3"/>
                </a:solidFill>
                <a:latin typeface="Helvetica Neue"/>
              </a:rPr>
              <a:t>Future work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4590288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8B97AB"/>
                </a:solidFill>
                <a:latin typeface="Helvetica Neue"/>
              </a:rPr>
              <a:t>what is next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0" y="4590288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0">
                <a:solidFill>
                  <a:srgbClr val="8B97AB"/>
                </a:solidFill>
                <a:latin typeface="Menlo"/>
              </a:rPr>
              <a:t>1 min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" y="5065776"/>
            <a:ext cx="548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22D3EE"/>
                </a:solidFill>
                <a:latin typeface="Menlo"/>
              </a:rPr>
              <a:t>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45920" y="5065776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22D3EE"/>
                </a:solidFill>
                <a:latin typeface="Helvetica Neue"/>
              </a:rPr>
              <a:t>Live demonstration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60" y="5084064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8B97AB"/>
                </a:solidFill>
                <a:latin typeface="Helvetica Neue"/>
              </a:rPr>
              <a:t>a ticket that carries a credential, refused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0" y="50840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0">
                <a:solidFill>
                  <a:srgbClr val="8B97AB"/>
                </a:solidFill>
                <a:latin typeface="Menlo"/>
              </a:rPr>
              <a:t>5 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" y="5559552"/>
            <a:ext cx="548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22D3EE"/>
                </a:solidFill>
                <a:latin typeface="Menlo"/>
              </a:rPr>
              <a:t>08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45920" y="5559552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22D3EE"/>
                </a:solidFill>
                <a:latin typeface="Helvetica Neue"/>
              </a:rPr>
              <a:t>Questions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80560" y="5577840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8B97AB"/>
                </a:solidFill>
                <a:latin typeface="Helvetica Neue"/>
              </a:rPr>
              <a:t>the rest of the slot is yours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0" y="5577840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0">
                <a:solidFill>
                  <a:srgbClr val="8B97AB"/>
                </a:solidFill>
                <a:latin typeface="Menlo"/>
              </a:rPr>
              <a:t>5 min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47120" y="629107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8B97AB"/>
                </a:solidFill>
                <a:latin typeface="Helvetica Neue"/>
              </a:rPr>
              <a:t>3</a:t>
            </a:r>
          </a:p>
        </p:txBody>
      </p:sp>
    </p:spTree>
  </p:cSld>
  <p:clrMapOvr>
    <a:masterClrMapping/>
  </p:clrMapOvr>
  <p:transition spd="med">
    <p:wipe dir="l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658368"/>
            <a:ext cx="10149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2D3EE"/>
                </a:solidFill>
                <a:latin typeface="Helvetica Neue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78992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3200" b="1">
                <a:solidFill>
                  <a:srgbClr val="E8ECF3"/>
                </a:solidFill>
                <a:latin typeface="Helvetica Neue"/>
              </a:rPr>
              <a:t>An agent can write the code. Who checks it?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883664"/>
            <a:ext cx="1463040" cy="381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101498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E8ECF3"/>
                </a:solidFill>
                <a:latin typeface="Helvetica Neue"/>
              </a:rPr>
              <a:t>Coding agents now open pull requests without a person in the loop. The reviewer of that change is increasingly another model.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127248"/>
            <a:ext cx="101498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E8ECF3"/>
                </a:solidFill>
                <a:latin typeface="Helvetica Neue"/>
              </a:rPr>
              <a:t>A model can be persuaded, distracted or prompt-injected. It is the wrong thing to place between a committed credential and a default branch.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968496"/>
            <a:ext cx="101498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E8ECF3"/>
                </a:solidFill>
                <a:latin typeface="Helvetica Neue"/>
              </a:rPr>
              <a:t>Measured on this project's own baseline: with no checks in the loop, a poisoned change reached the branch every time it was tried.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53949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>
                <a:solidFill>
                  <a:srgbClr val="22D3EE"/>
                </a:solidFill>
                <a:latin typeface="Helvetica Neue"/>
              </a:rPr>
              <a:t>The question is not whether an agent can write the change. It is what stands between that change and production.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247120" y="629107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8B97AB"/>
                </a:solidFill>
                <a:latin typeface="Helvetica Neue"/>
              </a:rPr>
              <a:t>4</a:t>
            </a:r>
          </a:p>
        </p:txBody>
      </p:sp>
    </p:spTree>
  </p:cSld>
  <p:clrMapOvr>
    <a:masterClrMapping/>
  </p:clrMapOvr>
  <p:transition spd="med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658368"/>
            <a:ext cx="10149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2D3EE"/>
                </a:solidFill>
                <a:latin typeface="Helvetica Neue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78992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3200" b="1">
                <a:solidFill>
                  <a:srgbClr val="E8ECF3"/>
                </a:solidFill>
                <a:latin typeface="Helvetica Neue"/>
              </a:rPr>
              <a:t>Nine stages. Three of them are people.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883664"/>
            <a:ext cx="1463040" cy="381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10284" y="2286000"/>
            <a:ext cx="118872" cy="118872"/>
          </a:xfrm>
          <a:prstGeom prst="ellipse">
            <a:avLst/>
          </a:prstGeom>
          <a:solidFill>
            <a:srgbClr val="6EE7B7"/>
          </a:solidFill>
          <a:ln w="25400">
            <a:solidFill>
              <a:srgbClr val="6EE7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629156" y="2336292"/>
            <a:ext cx="1008888" cy="18288"/>
          </a:xfrm>
          <a:prstGeom prst="rect">
            <a:avLst/>
          </a:prstGeom>
          <a:solidFill>
            <a:srgbClr val="6EE7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596896"/>
            <a:ext cx="112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E8ECF3"/>
                </a:solidFill>
                <a:latin typeface="Menlo"/>
              </a:rPr>
              <a:t>plan</a:t>
            </a:r>
          </a:p>
        </p:txBody>
      </p:sp>
      <p:sp>
        <p:nvSpPr>
          <p:cNvPr id="9" name="Oval 8"/>
          <p:cNvSpPr/>
          <p:nvPr/>
        </p:nvSpPr>
        <p:spPr>
          <a:xfrm>
            <a:off x="2610612" y="2286000"/>
            <a:ext cx="173736" cy="173736"/>
          </a:xfrm>
          <a:prstGeom prst="ellipse">
            <a:avLst/>
          </a:prstGeom>
          <a:solidFill>
            <a:srgbClr val="0B0F17"/>
          </a:solidFill>
          <a:ln w="25400">
            <a:solidFill>
              <a:srgbClr val="6EE7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84348" y="2363724"/>
            <a:ext cx="954024" cy="18288"/>
          </a:xfrm>
          <a:prstGeom prst="rect">
            <a:avLst/>
          </a:prstGeom>
          <a:solidFill>
            <a:srgbClr val="6EE7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33600" y="2596896"/>
            <a:ext cx="112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22D3EE"/>
                </a:solidFill>
                <a:latin typeface="Menlo"/>
              </a:rPr>
              <a:t>gate1</a:t>
            </a:r>
          </a:p>
        </p:txBody>
      </p:sp>
      <p:sp>
        <p:nvSpPr>
          <p:cNvPr id="12" name="Oval 11"/>
          <p:cNvSpPr/>
          <p:nvPr/>
        </p:nvSpPr>
        <p:spPr>
          <a:xfrm>
            <a:off x="3765804" y="2286000"/>
            <a:ext cx="118872" cy="118872"/>
          </a:xfrm>
          <a:prstGeom prst="ellipse">
            <a:avLst/>
          </a:prstGeom>
          <a:solidFill>
            <a:srgbClr val="6EE7B7"/>
          </a:solidFill>
          <a:ln w="25400">
            <a:solidFill>
              <a:srgbClr val="6EE7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884676" y="2336292"/>
            <a:ext cx="1008888" cy="18288"/>
          </a:xfrm>
          <a:prstGeom prst="rect">
            <a:avLst/>
          </a:prstGeom>
          <a:solidFill>
            <a:srgbClr val="6EE7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61360" y="2596896"/>
            <a:ext cx="112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E8ECF3"/>
                </a:solidFill>
                <a:latin typeface="Menlo"/>
              </a:rPr>
              <a:t>develop</a:t>
            </a:r>
          </a:p>
        </p:txBody>
      </p:sp>
      <p:sp>
        <p:nvSpPr>
          <p:cNvPr id="15" name="Oval 14"/>
          <p:cNvSpPr/>
          <p:nvPr/>
        </p:nvSpPr>
        <p:spPr>
          <a:xfrm>
            <a:off x="4893564" y="2286000"/>
            <a:ext cx="118872" cy="118872"/>
          </a:xfrm>
          <a:prstGeom prst="ellipse">
            <a:avLst/>
          </a:prstGeom>
          <a:solidFill>
            <a:srgbClr val="6EE7B7"/>
          </a:solidFill>
          <a:ln w="25400">
            <a:solidFill>
              <a:srgbClr val="6EE7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12436" y="2336292"/>
            <a:ext cx="1008888" cy="18288"/>
          </a:xfrm>
          <a:prstGeom prst="rect">
            <a:avLst/>
          </a:prstGeom>
          <a:solidFill>
            <a:srgbClr val="6EE7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0" y="2596896"/>
            <a:ext cx="112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E8ECF3"/>
                </a:solidFill>
                <a:latin typeface="Menlo"/>
              </a:rPr>
              <a:t>review</a:t>
            </a:r>
          </a:p>
        </p:txBody>
      </p:sp>
      <p:sp>
        <p:nvSpPr>
          <p:cNvPr id="18" name="Oval 17"/>
          <p:cNvSpPr/>
          <p:nvPr/>
        </p:nvSpPr>
        <p:spPr>
          <a:xfrm>
            <a:off x="6021324" y="2286000"/>
            <a:ext cx="118872" cy="118872"/>
          </a:xfrm>
          <a:prstGeom prst="ellipse">
            <a:avLst/>
          </a:prstGeom>
          <a:solidFill>
            <a:srgbClr val="6EE7B7"/>
          </a:solidFill>
          <a:ln w="25400">
            <a:solidFill>
              <a:srgbClr val="6EE7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40196" y="2336292"/>
            <a:ext cx="1008888" cy="18288"/>
          </a:xfrm>
          <a:prstGeom prst="rect">
            <a:avLst/>
          </a:prstGeom>
          <a:solidFill>
            <a:srgbClr val="6EE7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16880" y="2596896"/>
            <a:ext cx="112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E8ECF3"/>
                </a:solidFill>
                <a:latin typeface="Menlo"/>
              </a:rPr>
              <a:t>security</a:t>
            </a:r>
          </a:p>
        </p:txBody>
      </p:sp>
      <p:sp>
        <p:nvSpPr>
          <p:cNvPr id="21" name="Oval 20"/>
          <p:cNvSpPr/>
          <p:nvPr/>
        </p:nvSpPr>
        <p:spPr>
          <a:xfrm>
            <a:off x="7121652" y="2286000"/>
            <a:ext cx="173736" cy="173736"/>
          </a:xfrm>
          <a:prstGeom prst="ellipse">
            <a:avLst/>
          </a:prstGeom>
          <a:solidFill>
            <a:srgbClr val="0B0F17"/>
          </a:solidFill>
          <a:ln w="25400">
            <a:solidFill>
              <a:srgbClr val="6EE7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295388" y="2363724"/>
            <a:ext cx="954024" cy="18288"/>
          </a:xfrm>
          <a:prstGeom prst="rect">
            <a:avLst/>
          </a:prstGeom>
          <a:solidFill>
            <a:srgbClr val="6EE7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44640" y="2596896"/>
            <a:ext cx="112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22D3EE"/>
                </a:solidFill>
                <a:latin typeface="Menlo"/>
              </a:rPr>
              <a:t>gate2</a:t>
            </a:r>
          </a:p>
        </p:txBody>
      </p:sp>
      <p:sp>
        <p:nvSpPr>
          <p:cNvPr id="24" name="Oval 23"/>
          <p:cNvSpPr/>
          <p:nvPr/>
        </p:nvSpPr>
        <p:spPr>
          <a:xfrm>
            <a:off x="8276844" y="2286000"/>
            <a:ext cx="118872" cy="118872"/>
          </a:xfrm>
          <a:prstGeom prst="ellipse">
            <a:avLst/>
          </a:prstGeom>
          <a:solidFill>
            <a:srgbClr val="6EE7B7"/>
          </a:solidFill>
          <a:ln w="25400">
            <a:solidFill>
              <a:srgbClr val="6EE7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395716" y="2336292"/>
            <a:ext cx="1008888" cy="18288"/>
          </a:xfrm>
          <a:prstGeom prst="rect">
            <a:avLst/>
          </a:prstGeom>
          <a:solidFill>
            <a:srgbClr val="6EE7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0" y="2596896"/>
            <a:ext cx="112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E8ECF3"/>
                </a:solidFill>
                <a:latin typeface="Menlo"/>
              </a:rPr>
              <a:t>sre</a:t>
            </a:r>
          </a:p>
        </p:txBody>
      </p:sp>
      <p:sp>
        <p:nvSpPr>
          <p:cNvPr id="27" name="Oval 26"/>
          <p:cNvSpPr/>
          <p:nvPr/>
        </p:nvSpPr>
        <p:spPr>
          <a:xfrm>
            <a:off x="9377172" y="2286000"/>
            <a:ext cx="173736" cy="173736"/>
          </a:xfrm>
          <a:prstGeom prst="ellipse">
            <a:avLst/>
          </a:prstGeom>
          <a:solidFill>
            <a:srgbClr val="0B0F17"/>
          </a:solidFill>
          <a:ln w="25400">
            <a:solidFill>
              <a:srgbClr val="6EE7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550908" y="2363724"/>
            <a:ext cx="954024" cy="18288"/>
          </a:xfrm>
          <a:prstGeom prst="rect">
            <a:avLst/>
          </a:prstGeom>
          <a:solidFill>
            <a:srgbClr val="6EE7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00160" y="2596896"/>
            <a:ext cx="112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22D3EE"/>
                </a:solidFill>
                <a:latin typeface="Menlo"/>
              </a:rPr>
              <a:t>gate3</a:t>
            </a:r>
          </a:p>
        </p:txBody>
      </p:sp>
      <p:sp>
        <p:nvSpPr>
          <p:cNvPr id="30" name="Oval 29"/>
          <p:cNvSpPr/>
          <p:nvPr/>
        </p:nvSpPr>
        <p:spPr>
          <a:xfrm>
            <a:off x="10532364" y="2286000"/>
            <a:ext cx="118872" cy="118872"/>
          </a:xfrm>
          <a:prstGeom prst="ellipse">
            <a:avLst/>
          </a:prstGeom>
          <a:solidFill>
            <a:srgbClr val="6EE7B7"/>
          </a:solidFill>
          <a:ln w="25400">
            <a:solidFill>
              <a:srgbClr val="6EE7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27920" y="2596896"/>
            <a:ext cx="112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E8ECF3"/>
                </a:solidFill>
                <a:latin typeface="Menlo"/>
              </a:rPr>
              <a:t>promote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" y="30632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8B97AB"/>
                </a:solidFill>
                <a:latin typeface="Helvetica Neue"/>
              </a:rPr>
              <a:t>A filled dot is an agent stage. A ring is a gate — the pipeline stops there until a named reviewer approves it in GitHub.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05840" y="3886200"/>
            <a:ext cx="3224784" cy="1828800"/>
          </a:xfrm>
          <a:prstGeom prst="rect">
            <a:avLst/>
          </a:prstGeom>
          <a:solidFill>
            <a:srgbClr val="131A25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88720" y="4032504"/>
            <a:ext cx="285902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22D3EE"/>
                </a:solidFill>
                <a:latin typeface="Helvetica Neue"/>
              </a:rPr>
              <a:t>Five agents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88720" y="4562856"/>
            <a:ext cx="285902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8B97AB"/>
                </a:solidFill>
                <a:latin typeface="Helvetica Neue"/>
              </a:rPr>
              <a:t>planner, developer, reviewer, security, SRE — each an isolated runtime, one image, five roles.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468368" y="3886200"/>
            <a:ext cx="3224784" cy="1828800"/>
          </a:xfrm>
          <a:prstGeom prst="rect">
            <a:avLst/>
          </a:prstGeom>
          <a:solidFill>
            <a:srgbClr val="131A25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651248" y="4032504"/>
            <a:ext cx="285902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22D3EE"/>
                </a:solidFill>
                <a:latin typeface="Helvetica Neue"/>
              </a:rPr>
              <a:t>Three human gates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51248" y="4562856"/>
            <a:ext cx="285902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8B97AB"/>
                </a:solidFill>
                <a:latin typeface="Helvetica Neue"/>
              </a:rPr>
              <a:t>GitHub Environments with required reviewers. A gate pauses a JOB, which is why the pipeline is cut into seven.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930896" y="3886200"/>
            <a:ext cx="3224784" cy="1828800"/>
          </a:xfrm>
          <a:prstGeom prst="rect">
            <a:avLst/>
          </a:prstGeom>
          <a:solidFill>
            <a:srgbClr val="131A25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113776" y="4032504"/>
            <a:ext cx="285902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22D3EE"/>
                </a:solidFill>
                <a:latin typeface="Helvetica Neue"/>
              </a:rPr>
              <a:t>One rule that is not a model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13776" y="4562856"/>
            <a:ext cx="285902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8B97AB"/>
                </a:solidFill>
                <a:latin typeface="Helvetica Neue"/>
              </a:rPr>
              <a:t>three scanners and a fixed severity threshold. Same input, same answer, every time.</a:t>
            </a:r>
          </a:p>
        </p:txBody>
      </p:sp>
      <p:sp>
        <p:nvSpPr>
          <p:cNvPr id="285" name="TextBox 284"/>
          <p:cNvSpPr txBox="1"/>
          <p:nvPr/>
        </p:nvSpPr>
        <p:spPr>
          <a:xfrm>
            <a:off x="11247120" y="629107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8B97AB"/>
                </a:solidFill>
                <a:latin typeface="Helvetica Neue"/>
              </a:rPr>
              <a:t>5</a:t>
            </a:r>
          </a:p>
        </p:txBody>
      </p:sp>
    </p:spTree>
  </p:cSld>
  <p:clrMapOvr>
    <a:masterClrMapping/>
  </p:clrMapOvr>
  <p:transition spd="med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>
                      <p:stCondLst>
                        <p:cond delay="indefinite"/>
                      </p:stCondLst>
                      <p:childTnLst>
                        <p:par>
                          <p:cTn id="191" fill="hold">
                            <p:stCondLst>
                              <p:cond delay="0"/>
                            </p:stCondLst>
                            <p:childTnLst>
                              <p:par>
                                <p:cTn id="19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4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0" fill="hold">
                      <p:stCondLst>
                        <p:cond delay="indefinite"/>
                      </p:stCondLst>
                      <p:childTnLst>
                        <p:par>
                          <p:cTn id="201" fill="hold">
                            <p:stCondLst>
                              <p:cond delay="0"/>
                            </p:stCondLst>
                            <p:childTnLst>
                              <p:par>
                                <p:cTn id="20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4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0" fill="hold">
                      <p:stCondLst>
                        <p:cond delay="indefinite"/>
                      </p:stCondLst>
                      <p:childTnLst>
                        <p:par>
                          <p:cTn id="211" fill="hold">
                            <p:stCondLst>
                              <p:cond delay="0"/>
                            </p:stCondLst>
                            <p:childTnLst>
                              <p:par>
                                <p:cTn id="2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4" dur="4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0" fill="hold">
                      <p:stCondLst>
                        <p:cond delay="indefinite"/>
                      </p:stCondLst>
                      <p:childTnLst>
                        <p:par>
                          <p:cTn id="221" fill="hold">
                            <p:stCondLst>
                              <p:cond delay="0"/>
                            </p:stCondLst>
                            <p:childTnLst>
                              <p:par>
                                <p:cTn id="2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4" dur="4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0" fill="hold">
                      <p:stCondLst>
                        <p:cond delay="indefinite"/>
                      </p:stCondLst>
                      <p:childTnLst>
                        <p:par>
                          <p:cTn id="231" fill="hold">
                            <p:stCondLst>
                              <p:cond delay="0"/>
                            </p:stCondLst>
                            <p:childTnLst>
                              <p:par>
                                <p:cTn id="2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4" dur="4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0" fill="hold">
                      <p:stCondLst>
                        <p:cond delay="indefinite"/>
                      </p:stCondLst>
                      <p:childTnLst>
                        <p:par>
                          <p:cTn id="241" fill="hold">
                            <p:stCondLst>
                              <p:cond delay="0"/>
                            </p:stCondLst>
                            <p:childTnLst>
                              <p:par>
                                <p:cTn id="2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4" dur="4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0" fill="hold">
                      <p:stCondLst>
                        <p:cond delay="indefinite"/>
                      </p:stCondLst>
                      <p:childTnLst>
                        <p:par>
                          <p:cTn id="251" fill="hold">
                            <p:stCondLst>
                              <p:cond delay="0"/>
                            </p:stCondLst>
                            <p:childTnLst>
                              <p:par>
                                <p:cTn id="2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4" dur="4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0" fill="hold">
                      <p:stCondLst>
                        <p:cond delay="indefinite"/>
                      </p:stCondLst>
                      <p:childTnLst>
                        <p:par>
                          <p:cTn id="261" fill="hold">
                            <p:stCondLst>
                              <p:cond delay="0"/>
                            </p:stCondLst>
                            <p:childTnLst>
                              <p:par>
                                <p:cTn id="2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" dur="1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4" dur="4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0" fill="hold">
                      <p:stCondLst>
                        <p:cond delay="indefinite"/>
                      </p:stCondLst>
                      <p:childTnLst>
                        <p:par>
                          <p:cTn id="271" fill="hold">
                            <p:stCondLst>
                              <p:cond delay="0"/>
                            </p:stCondLst>
                            <p:childTnLst>
                              <p:par>
                                <p:cTn id="27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4" dur="4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0" fill="hold">
                      <p:stCondLst>
                        <p:cond delay="indefinite"/>
                      </p:stCondLst>
                      <p:childTnLst>
                        <p:par>
                          <p:cTn id="281" fill="hold">
                            <p:stCondLst>
                              <p:cond delay="0"/>
                            </p:stCondLst>
                            <p:childTnLst>
                              <p:par>
                                <p:cTn id="28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3" dur="1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4" dur="4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658368"/>
            <a:ext cx="10149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2D3EE"/>
                </a:solidFill>
                <a:latin typeface="Helvetica Neue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078992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3000" b="1">
                <a:solidFill>
                  <a:srgbClr val="E8ECF3"/>
                </a:solidFill>
                <a:latin typeface="Helvetica Neue"/>
              </a:rPr>
              <a:t>Non-deterministic models. A deterministic gate.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1883664"/>
            <a:ext cx="1463040" cy="381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>
                <a:solidFill>
                  <a:srgbClr val="8B97AB"/>
                </a:solidFill>
                <a:latin typeface="Helvetica Neue"/>
              </a:rPr>
              <a:t>Every agent here is a language model, and every one of them can be wrong. The component that stops a change is not one of them.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2D3EE"/>
                </a:solidFill>
                <a:latin typeface="Helvetica Neue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2697480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2D3EE"/>
                </a:solidFill>
                <a:latin typeface="Helvetica Neue"/>
              </a:rPr>
              <a:t>THE REVIEWER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2697480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2D3EE"/>
                </a:solidFill>
                <a:latin typeface="Helvetica Neue"/>
              </a:rPr>
              <a:t>THE SECURITY STAGE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0" y="3026664"/>
            <a:ext cx="10149840" cy="127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1546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E8ECF3"/>
                </a:solidFill>
                <a:latin typeface="Helvetica Neue"/>
              </a:rPr>
              <a:t>what it 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315468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8B97AB"/>
                </a:solidFill>
                <a:latin typeface="Menlo"/>
              </a:rPr>
              <a:t>a model reading the diff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315468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8B97AB"/>
                </a:solidFill>
                <a:latin typeface="Menlo"/>
              </a:rPr>
              <a:t>three scanners and a fixed rule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6118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E8ECF3"/>
                </a:solidFill>
                <a:latin typeface="Helvetica Neue"/>
              </a:rPr>
              <a:t>catches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361188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8B97AB"/>
                </a:solidFill>
                <a:latin typeface="Menlo"/>
              </a:rPr>
              <a:t>intent, logic, plan mismatch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361188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8B97AB"/>
                </a:solidFill>
                <a:latin typeface="Menlo"/>
              </a:rPr>
              <a:t>credentials, CVEs, injectable patterns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0690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E8ECF3"/>
                </a:solidFill>
                <a:latin typeface="Helvetica Neue"/>
              </a:rPr>
              <a:t>authority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406908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8B97AB"/>
                </a:solidFill>
                <a:latin typeface="Menlo"/>
              </a:rPr>
              <a:t>ADVISORY — it loops, it cannot stop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406908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8B97AB"/>
                </a:solidFill>
                <a:latin typeface="Menlo"/>
              </a:rPr>
              <a:t>BINDING — it ends the run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5262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E8ECF3"/>
                </a:solidFill>
                <a:latin typeface="Helvetica Neue"/>
              </a:rPr>
              <a:t>same input twice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91840" y="452628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8B97AB"/>
                </a:solidFill>
                <a:latin typeface="Menlo"/>
              </a:rPr>
              <a:t>may differ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452628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8B97AB"/>
                </a:solidFill>
                <a:latin typeface="Menlo"/>
              </a:rPr>
              <a:t>identical, always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49834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2D3EE"/>
                </a:solidFill>
                <a:latin typeface="Helvetica Neue"/>
              </a:rPr>
              <a:t>can be argued with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91840" y="498348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2D3EE"/>
                </a:solidFill>
                <a:latin typeface="Menlo"/>
              </a:rPr>
              <a:t>yes, it is a prompt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0" y="498348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2D3EE"/>
                </a:solidFill>
                <a:latin typeface="Menlo"/>
              </a:rPr>
              <a:t>no model is involved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553212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22D3EE"/>
                </a:solidFill>
                <a:latin typeface="Helvetica Neue"/>
              </a:rPr>
              <a:t>The block is a dependency edge, not a status check: the develop stage exits 3 and the next gate declares that it needs it. There is no condition to misconfigure and no required check to forget.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47120" y="629107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8B97AB"/>
                </a:solidFill>
                <a:latin typeface="Helvetica Neue"/>
              </a:rPr>
              <a:t>6</a:t>
            </a:r>
          </a:p>
        </p:txBody>
      </p:sp>
    </p:spTree>
  </p:cSld>
  <p:clrMapOvr>
    <a:masterClrMapping/>
  </p:clrMapOvr>
  <p:transition spd="med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658368"/>
            <a:ext cx="10149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2D3EE"/>
                </a:solidFill>
                <a:latin typeface="Helvetica Neue"/>
              </a:rPr>
              <a:t>OVERVIEW · SCORING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78992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3000" b="1">
                <a:solidFill>
                  <a:srgbClr val="E8ECF3"/>
                </a:solidFill>
                <a:latin typeface="Helvetica Neue"/>
              </a:rPr>
              <a:t>How a finding becomes a verdict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883664"/>
            <a:ext cx="1463040" cy="381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2D3EE"/>
                </a:solidFill>
                <a:latin typeface="Helvetica Neue"/>
              </a:rPr>
              <a:t>SCANNER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1828800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2D3EE"/>
                </a:solidFill>
                <a:latin typeface="Helvetica Neue"/>
              </a:rPr>
              <a:t>HOW ITS SEVERITY IS DECIDED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2157984"/>
            <a:ext cx="10149840" cy="127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2860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E8ECF3"/>
                </a:solidFill>
                <a:latin typeface="Helvetica Neue"/>
              </a:rPr>
              <a:t>Semgrep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228600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8B97AB"/>
                </a:solidFill>
                <a:latin typeface="Menlo"/>
              </a:rPr>
              <a:t>MAPPED from its own — seven keys across two vocabularies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7432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E8ECF3"/>
                </a:solidFill>
                <a:latin typeface="Helvetica Neue"/>
              </a:rPr>
              <a:t>Trivy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74320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8B97AB"/>
                </a:solidFill>
                <a:latin typeface="Menlo"/>
              </a:rPr>
              <a:t>MAPPED from its own; UNKNOWN is a real answer, not a fall-through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2004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2D3EE"/>
                </a:solidFill>
                <a:latin typeface="Helvetica Neue"/>
              </a:rPr>
              <a:t>gitleaks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320040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2D3EE"/>
                </a:solidFill>
                <a:latin typeface="Menlo"/>
              </a:rPr>
              <a:t>ASSIGNED critical by policy — it reports no severity at all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749039"/>
            <a:ext cx="101498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E8ECF3"/>
                </a:solidFill>
                <a:latin typeface="Helvetica Neue"/>
              </a:rPr>
              <a:t>The rule is a comparison: block when any finding sits at or above the threshold. No model, no network, no ordering dependence.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407407"/>
            <a:ext cx="101498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E8ECF3"/>
                </a:solidFill>
                <a:latin typeface="Helvetica Neue"/>
              </a:rPr>
              <a:t>An unrecognised severity fails closed AT the block threshold, and that constant is refused at import if it ever drops below it.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5065775"/>
            <a:ext cx="101498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E8ECF3"/>
                </a:solidFill>
                <a:latin typeface="Helvetica Neue"/>
              </a:rPr>
              <a:t>The floor is derived from the policy rather than written down twice — two copies of one fact agree until one of them moves.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5724143"/>
            <a:ext cx="101498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E8ECF3"/>
                </a:solidFill>
                <a:latin typeface="Helvetica Neue"/>
              </a:rPr>
              <a:t>A threshold outside the vocabulary is REFUSED, never clamped: clamping runs the gate at a setting nobody asked for and reports success.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247120" y="629107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8B97AB"/>
                </a:solidFill>
                <a:latin typeface="Helvetica Neue"/>
              </a:rPr>
              <a:t>7</a:t>
            </a:r>
          </a:p>
        </p:txBody>
      </p:sp>
    </p:spTree>
  </p:cSld>
  <p:clrMapOvr>
    <a:masterClrMapping/>
  </p:clrMapOvr>
  <p:transition spd="med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2D3EE"/>
                </a:solidFill>
                <a:latin typeface="Helvetica Neue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66928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E8ECF3"/>
                </a:solidFill>
                <a:latin typeface="Helvetica Neue"/>
              </a:rPr>
              <a:t>What runs where — follow the numbers</a:t>
            </a:r>
          </a:p>
        </p:txBody>
      </p:sp>
      <p:pic>
        <p:nvPicPr>
          <p:cNvPr id="5" name="Picture 4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431" y="1243584"/>
            <a:ext cx="10704832" cy="550468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247120" y="629107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8B97AB"/>
                </a:solidFill>
                <a:latin typeface="Helvetica Neue"/>
              </a:rPr>
              <a:t>8</a:t>
            </a:r>
          </a:p>
        </p:txBody>
      </p:sp>
    </p:spTree>
  </p:cSld>
  <p:clrMapOvr>
    <a:masterClrMapping/>
  </p:clrMapOvr>
  <p:transition spd="med">
    <p:wipe dir="l"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658368"/>
            <a:ext cx="10149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2D3EE"/>
                </a:solidFill>
                <a:latin typeface="Helvetica Neue"/>
              </a:rPr>
              <a:t>BUSINESS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78992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3200" b="1">
                <a:solidFill>
                  <a:srgbClr val="E8ECF3"/>
                </a:solidFill>
                <a:latin typeface="Helvetica Neue"/>
              </a:rPr>
              <a:t>What it costs, and what it buys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883664"/>
            <a:ext cx="1463040" cy="381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310896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6EE7B7"/>
                </a:solidFill>
                <a:latin typeface="Helvetica Neue"/>
              </a:rPr>
              <a:t>$0.013–0.017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798064"/>
            <a:ext cx="31089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8B97AB"/>
                </a:solidFill>
                <a:latin typeface="Helvetica Neue"/>
              </a:rPr>
              <a:t>model cost per change</a:t>
            </a:r>
          </a:p>
          <a:p>
            <a:pPr algn="l">
              <a:lnSpc>
                <a:spcPct val="125000"/>
              </a:lnSpc>
            </a:pPr>
            <a:r>
              <a:rPr sz="1500" b="0">
                <a:solidFill>
                  <a:srgbClr val="8B97AB"/>
                </a:solidFill>
                <a:latin typeface="Helvetica Neue"/>
              </a:rPr>
              <a:t>three measured runs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2011680"/>
            <a:ext cx="310896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22D3EE"/>
                </a:solidFill>
                <a:latin typeface="Helvetica Neue"/>
              </a:rPr>
              <a:t>5.39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2798064"/>
            <a:ext cx="31089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8B97AB"/>
                </a:solidFill>
                <a:latin typeface="Helvetica Neue"/>
              </a:rPr>
              <a:t>median ticket to merge</a:t>
            </a:r>
          </a:p>
          <a:p>
            <a:pPr algn="l">
              <a:lnSpc>
                <a:spcPct val="125000"/>
              </a:lnSpc>
            </a:pPr>
            <a:r>
              <a:rPr sz="1500" b="0">
                <a:solidFill>
                  <a:srgbClr val="8B97AB"/>
                </a:solidFill>
                <a:latin typeface="Helvetica Neue"/>
              </a:rPr>
              <a:t>8 merges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2011680"/>
            <a:ext cx="310896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6EE7B7"/>
                </a:solidFill>
                <a:latin typeface="Helvetica Neue"/>
              </a:rPr>
              <a:t>0 of 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2798064"/>
            <a:ext cx="31089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8B97AB"/>
                </a:solidFill>
                <a:latin typeface="Helvetica Neue"/>
              </a:rPr>
              <a:t>merged changes carrying</a:t>
            </a:r>
          </a:p>
          <a:p>
            <a:pPr algn="l">
              <a:lnSpc>
                <a:spcPct val="125000"/>
              </a:lnSpc>
            </a:pPr>
            <a:r>
              <a:rPr sz="1500" b="0">
                <a:solidFill>
                  <a:srgbClr val="8B97AB"/>
                </a:solidFill>
                <a:latin typeface="Helvetica Neue"/>
              </a:rPr>
              <a:t>a credential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931920"/>
            <a:ext cx="10149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E8ECF3"/>
                </a:solidFill>
                <a:latin typeface="Helvetica Neue"/>
              </a:rPr>
              <a:t>Infrastructure is 99.9% of nothing beside the model: Lambda, EventBridge and DynamoDB together came to twelve millionths of a dollar per change. Any cost work that is not prompt caching is noise.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800600"/>
            <a:ext cx="10149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E8ECF3"/>
                </a:solidFill>
                <a:latin typeface="Helvetica Neue"/>
              </a:rPr>
              <a:t>The value is not the cents. It is that a credential cannot reach the default branch by being approved quickly — refusing that is the one thing the pipeline does without a model in the path.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760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8B97AB"/>
                </a:solidFill>
                <a:latin typeface="Helvetica Neue"/>
              </a:rPr>
              <a:t>Stated honestly: 8 merges of 37 runs, so the median is over the ones that finished. And the zero has a positive control — the same scan finds 3 in unmerged PR #50, so it is a measurement and not a broken grep.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1247120" y="629107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8B97AB"/>
                </a:solidFill>
                <a:latin typeface="Helvetica Neue"/>
              </a:rPr>
              <a:t>9</a:t>
            </a:r>
          </a:p>
        </p:txBody>
      </p:sp>
    </p:spTree>
  </p:cSld>
  <p:clrMapOvr>
    <a:masterClrMapping/>
  </p:clrMapOvr>
  <p:transition spd="med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658368"/>
            <a:ext cx="10149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2D3EE"/>
                </a:solidFill>
                <a:latin typeface="Helvetica Neue"/>
              </a:rPr>
              <a:t>DIFFERENTIATION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78992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2800" b="1">
                <a:solidFill>
                  <a:srgbClr val="E8ECF3"/>
                </a:solidFill>
                <a:latin typeface="Helvetica Neue"/>
              </a:rPr>
              <a:t>Every vendor's AI review is advisory. They say so.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883664"/>
            <a:ext cx="1463040" cy="381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057400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2D3EE"/>
                </a:solidFill>
                <a:latin typeface="Helvetica Neue"/>
              </a:rPr>
              <a:t>PRODUCT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60" y="2057400"/>
            <a:ext cx="7132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2D3EE"/>
                </a:solidFill>
                <a:latin typeface="Helvetica Neue"/>
              </a:rPr>
              <a:t>FROM THEIR OWN DOCUMENTATION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2386584"/>
            <a:ext cx="10149840" cy="127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514600"/>
            <a:ext cx="3017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E8ECF3"/>
                </a:solidFill>
                <a:latin typeface="Helvetica Neue"/>
              </a:rPr>
              <a:t>GitHub Copilot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0" y="2514600"/>
            <a:ext cx="7132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7AB"/>
                </a:solidFill>
                <a:latin typeface="Menlo"/>
              </a:rPr>
              <a:t>“will not block merging changes”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953512"/>
            <a:ext cx="3017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E8ECF3"/>
                </a:solidFill>
                <a:latin typeface="Helvetica Neue"/>
              </a:rPr>
              <a:t>Anthropic Code Review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0" y="2953512"/>
            <a:ext cx="7132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7AB"/>
                </a:solidFill>
                <a:latin typeface="Menlo"/>
              </a:rPr>
              <a:t>“always completes with a neutral conclusion so it never blocks”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392424"/>
            <a:ext cx="3017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E8ECF3"/>
                </a:solidFill>
                <a:latin typeface="Helvetica Neue"/>
              </a:rPr>
              <a:t>OpenAI Codex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0" y="3392424"/>
            <a:ext cx="7132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7AB"/>
                </a:solidFill>
                <a:latin typeface="Menlo"/>
              </a:rPr>
              <a:t>“don't replace tests, branch protections, or required approvals”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831336"/>
            <a:ext cx="3017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E8ECF3"/>
                </a:solidFill>
                <a:latin typeface="Helvetica Neue"/>
              </a:rPr>
              <a:t>Cursor Bugbot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23360" y="3831336"/>
            <a:ext cx="7132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7AB"/>
                </a:solidFill>
                <a:latin typeface="Menlo"/>
              </a:rPr>
              <a:t>findings “default to neutral” — requiring the status does not block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270248"/>
            <a:ext cx="3017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2D3EE"/>
                </a:solidFill>
                <a:latin typeface="Helvetica Neue"/>
              </a:rPr>
              <a:t>Snyk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23360" y="4270248"/>
            <a:ext cx="7132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22D3EE"/>
                </a:solidFill>
                <a:latin typeface="Menlo"/>
              </a:rPr>
              <a:t>“The generator cannot be the validator.”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8463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22D3EE"/>
                </a:solidFill>
                <a:latin typeface="Helvetica Neue"/>
              </a:rPr>
              <a:t>So the distinction is not that we are deterministic and they are not — Claude Code's permission rules are enforced by the harness rather than the model, and Factory blocks a commit outright. The distinction is the SEAM: every gate they ship guards a tool call inside one agent's session. Ours guards a pipeline stage between agents, with a named human reviewer, and the block is a dependency edge.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629107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8B97AB"/>
                </a:solidFill>
                <a:latin typeface="Helvetica Neue"/>
              </a:rPr>
              <a:t>10</a:t>
            </a:r>
          </a:p>
        </p:txBody>
      </p:sp>
    </p:spTree>
  </p:cSld>
  <p:clrMapOvr>
    <a:masterClrMapping/>
  </p:clrMapOvr>
  <p:transition spd="med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658368"/>
            <a:ext cx="10149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B7185"/>
                </a:solidFill>
                <a:latin typeface="Helvetica Neue"/>
              </a:rPr>
              <a:t>DIFFERENTIATION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078992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3200" b="1">
                <a:solidFill>
                  <a:srgbClr val="E8ECF3"/>
                </a:solidFill>
                <a:latin typeface="Helvetica Neue"/>
              </a:rPr>
              <a:t>Three shipped products fail open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1883664"/>
            <a:ext cx="1463040" cy="38100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05840" y="2194560"/>
            <a:ext cx="3224784" cy="1920240"/>
          </a:xfrm>
          <a:prstGeom prst="rect">
            <a:avLst/>
          </a:prstGeom>
          <a:solidFill>
            <a:srgbClr val="131A25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340864"/>
            <a:ext cx="285902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22D3EE"/>
                </a:solidFill>
                <a:latin typeface="Helvetica Neue"/>
              </a:rPr>
              <a:t>Cursor hooks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871216"/>
            <a:ext cx="285902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8B97AB"/>
                </a:solidFill>
                <a:latin typeface="Helvetica Neue"/>
              </a:rPr>
              <a:t>exit 2 denies. “Other exit codes — hook failed, action proceeds (fail-open by default).”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68368" y="2194560"/>
            <a:ext cx="3224784" cy="1920240"/>
          </a:xfrm>
          <a:prstGeom prst="rect">
            <a:avLst/>
          </a:prstGeom>
          <a:solidFill>
            <a:srgbClr val="131A25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51248" y="2340864"/>
            <a:ext cx="285902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22D3EE"/>
                </a:solidFill>
                <a:latin typeface="Helvetica Neue"/>
              </a:rPr>
              <a:t>Claude Code hooks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51248" y="2871216"/>
            <a:ext cx="285902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8B97AB"/>
                </a:solidFill>
                <a:latin typeface="Helvetica Neue"/>
              </a:rPr>
              <a:t>exit 2 blocks and cannot be overridden. Exit 1 does not block, and “a mistyped path silently disables the gate”.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30896" y="2194560"/>
            <a:ext cx="3224784" cy="1920240"/>
          </a:xfrm>
          <a:prstGeom prst="rect">
            <a:avLst/>
          </a:prstGeom>
          <a:solidFill>
            <a:srgbClr val="131A25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13776" y="2340864"/>
            <a:ext cx="285902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22D3EE"/>
                </a:solidFill>
                <a:latin typeface="Helvetica Neue"/>
              </a:rPr>
              <a:t>Semgrep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13776" y="2871216"/>
            <a:ext cx="285902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8B97AB"/>
                </a:solidFill>
                <a:latin typeface="Helvetica Neue"/>
              </a:rPr>
              <a:t>on an internal crash it “sends an anonymous crash report… and returns exit code 0”.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6634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>
                <a:solidFill>
                  <a:srgbClr val="E8ECF3"/>
                </a:solidFill>
                <a:latin typeface="Helvetica Neue"/>
              </a:rPr>
              <a:t>A check that did not run, reading as a check that passed. That is the single defect shape this project is built to refuse — which is why a missing scanner raises here rather than returning an empty list, and why an empty list of findings can never be produced by a failure.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1247120" y="629107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8B97AB"/>
                </a:solidFill>
                <a:latin typeface="Helvetica Neue"/>
              </a:rPr>
              <a:t>11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658368"/>
            <a:ext cx="10149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2D3EE"/>
                </a:solidFill>
                <a:latin typeface="Helvetica Neue"/>
              </a:rPr>
              <a:t>PROGRESS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78992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3200" b="1">
                <a:solidFill>
                  <a:srgbClr val="E8ECF3"/>
                </a:solidFill>
                <a:latin typeface="Helvetica Neue"/>
              </a:rPr>
              <a:t>What is built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883664"/>
            <a:ext cx="1463040" cy="381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310896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6EE7B7"/>
                </a:solidFill>
                <a:latin typeface="Helvetica Neue"/>
              </a:rPr>
              <a:t>2172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706624"/>
            <a:ext cx="31089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8B97AB"/>
                </a:solidFill>
                <a:latin typeface="Helvetica Neue"/>
              </a:rPr>
              <a:t>automated tests</a:t>
            </a:r>
          </a:p>
          <a:p>
            <a:pPr algn="l">
              <a:lnSpc>
                <a:spcPct val="125000"/>
              </a:lnSpc>
            </a:pPr>
            <a:r>
              <a:rPr sz="1500" b="0">
                <a:solidFill>
                  <a:srgbClr val="8B97AB"/>
                </a:solidFill>
                <a:latin typeface="Helvetica Neue"/>
              </a:rPr>
              <a:t>across 93 files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1920240"/>
            <a:ext cx="310896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6EE7B7"/>
                </a:solidFill>
                <a:latin typeface="Helvetica Neue"/>
              </a:rPr>
              <a:t>311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2706624"/>
            <a:ext cx="31089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8B97AB"/>
                </a:solidFill>
                <a:latin typeface="Helvetica Neue"/>
              </a:rPr>
              <a:t>more for the web app</a:t>
            </a:r>
          </a:p>
          <a:p>
            <a:pPr algn="l">
              <a:lnSpc>
                <a:spcPct val="125000"/>
              </a:lnSpc>
            </a:pPr>
            <a:r>
              <a:rPr sz="1500" b="0">
                <a:solidFill>
                  <a:srgbClr val="8B97AB"/>
                </a:solidFill>
                <a:latin typeface="Helvetica Neue"/>
              </a:rPr>
              <a:t>across 24 files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1920240"/>
            <a:ext cx="310896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22D3EE"/>
                </a:solidFill>
                <a:latin typeface="Helvetica Neue"/>
              </a:rPr>
              <a:t>v54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2706624"/>
            <a:ext cx="31089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8B97AB"/>
                </a:solidFill>
                <a:latin typeface="Helvetica Neue"/>
              </a:rPr>
              <a:t>five agent runtimes</a:t>
            </a:r>
          </a:p>
          <a:p>
            <a:pPr algn="l">
              <a:lnSpc>
                <a:spcPct val="125000"/>
              </a:lnSpc>
            </a:pPr>
            <a:r>
              <a:rPr sz="1500" b="0">
                <a:solidFill>
                  <a:srgbClr val="8B97AB"/>
                </a:solidFill>
                <a:latin typeface="Helvetica Neue"/>
              </a:rPr>
              <a:t>all READY, one version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" y="3794760"/>
            <a:ext cx="3224784" cy="1874519"/>
          </a:xfrm>
          <a:prstGeom prst="rect">
            <a:avLst/>
          </a:prstGeom>
          <a:solidFill>
            <a:srgbClr val="131A25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3941064"/>
            <a:ext cx="285902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22D3EE"/>
                </a:solidFill>
                <a:latin typeface="Helvetica Neue"/>
              </a:rPr>
              <a:t>Running in the cloud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471416"/>
            <a:ext cx="2859024" cy="1051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8B97AB"/>
                </a:solidFill>
                <a:latin typeface="Helvetica Neue"/>
              </a:rPr>
              <a:t>An issue triggers a Lambda, an event bus dispatches the pipeline, five runtimes answer, three gates pause for a person.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68368" y="3794760"/>
            <a:ext cx="3224784" cy="1874519"/>
          </a:xfrm>
          <a:prstGeom prst="rect">
            <a:avLst/>
          </a:prstGeom>
          <a:solidFill>
            <a:srgbClr val="131A25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51248" y="3941064"/>
            <a:ext cx="285902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22D3EE"/>
                </a:solidFill>
                <a:latin typeface="Helvetica Neue"/>
              </a:rPr>
              <a:t>A product, not a script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51248" y="4471416"/>
            <a:ext cx="2859024" cy="1051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8B97AB"/>
                </a:solidFill>
                <a:latin typeface="Helvetica Neue"/>
              </a:rPr>
              <a:t>Sign in with GitHub, pick a repository, start a run, watch the stages move, approve a gate, read the cost.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30896" y="3794760"/>
            <a:ext cx="3224784" cy="1874519"/>
          </a:xfrm>
          <a:prstGeom prst="rect">
            <a:avLst/>
          </a:prstGeom>
          <a:solidFill>
            <a:srgbClr val="131A25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13776" y="3941064"/>
            <a:ext cx="285902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22D3EE"/>
                </a:solidFill>
                <a:latin typeface="Helvetica Neue"/>
              </a:rPr>
              <a:t>Multi-tenant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13776" y="4471416"/>
            <a:ext cx="2859024" cy="1051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8B97AB"/>
                </a:solidFill>
                <a:latin typeface="Helvetica Neue"/>
              </a:rPr>
              <a:t>One DynamoDB table, isolation enforced by the credential rather than by application code — AWS refuses another tenant's partition.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11247120" y="629107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8B97AB"/>
                </a:solidFill>
                <a:latin typeface="Helvetica Neue"/>
              </a:rPr>
              <a:t>12</a:t>
            </a:r>
          </a:p>
        </p:txBody>
      </p:sp>
    </p:spTree>
  </p:cSld>
  <p:clrMapOvr>
    <a:masterClrMapping/>
  </p:clrMapOvr>
  <p:transition spd="med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658368"/>
            <a:ext cx="10149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2D3EE"/>
                </a:solidFill>
                <a:latin typeface="Helvetica Neue"/>
              </a:rPr>
              <a:t>PROGRESS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78992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3000" b="1">
                <a:solidFill>
                  <a:srgbClr val="E8ECF3"/>
                </a:solidFill>
                <a:latin typeface="Helvetica Neue"/>
              </a:rPr>
              <a:t>Your ten notes from the pre-final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883664"/>
            <a:ext cx="1463040" cy="381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2D3EE"/>
                </a:solidFill>
                <a:latin typeface="Helvetica Neue"/>
              </a:rPr>
              <a:t>WHAT YOU ASKED FOR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1783080"/>
            <a:ext cx="6492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2D3EE"/>
                </a:solidFill>
                <a:latin typeface="Helvetica Neue"/>
              </a:rPr>
              <a:t>WHAT EXISTS NOW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2112264"/>
            <a:ext cx="10149840" cy="127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24028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E8ECF3"/>
                </a:solidFill>
                <a:latin typeface="Helvetica Neue"/>
              </a:rPr>
              <a:t>Evaluation criteria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240280"/>
            <a:ext cx="6492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B97AB"/>
                </a:solidFill>
                <a:latin typeface="Menlo"/>
              </a:rPr>
              <a:t>measured arms — a reviewer's miss rate moved 6/8 → 8/8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624328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E8ECF3"/>
                </a:solidFill>
                <a:latin typeface="Helvetica Neue"/>
              </a:rPr>
              <a:t>Time and cost vs a coding 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624328"/>
            <a:ext cx="6492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B97AB"/>
                </a:solidFill>
                <a:latin typeface="Menlo"/>
              </a:rPr>
              <a:t>$0.013–0.017 per change, priced from the AWS Pricing 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008376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E8ECF3"/>
                </a:solidFill>
                <a:latin typeface="Helvetica Neue"/>
              </a:rPr>
              <a:t>External dependency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3008376"/>
            <a:ext cx="6492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B97AB"/>
                </a:solidFill>
                <a:latin typeface="Menlo"/>
              </a:rPr>
              <a:t>1 of 50 modules import a vendor at module level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392424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E8ECF3"/>
                </a:solidFill>
                <a:latin typeface="Helvetica Neue"/>
              </a:rPr>
              <a:t>Self-hosted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3392424"/>
            <a:ext cx="6492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B97AB"/>
                </a:solidFill>
                <a:latin typeface="Menlo"/>
              </a:rPr>
              <a:t>one compose file: database, API and web, verified end to 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776472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E8ECF3"/>
                </a:solidFill>
                <a:latin typeface="Helvetica Neue"/>
              </a:rPr>
              <a:t>Competitive advantage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3776472"/>
            <a:ext cx="6492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B97AB"/>
                </a:solidFill>
                <a:latin typeface="Menlo"/>
              </a:rPr>
              <a:t>commissioned research; five of our own claims disproved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16052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2D3EE"/>
                </a:solidFill>
                <a:latin typeface="Helvetica Neue"/>
              </a:rPr>
              <a:t>Scanner scoring → go / no-go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4160520"/>
            <a:ext cx="6492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2D3EE"/>
                </a:solidFill>
                <a:latin typeface="Menlo"/>
              </a:rPr>
              <a:t>one policy table for three scanners — BUILT BECAUSE OF THIS NOTE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544568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E8ECF3"/>
                </a:solidFill>
                <a:latin typeface="Helvetica Neue"/>
              </a:rPr>
              <a:t>Generated tests + Selenium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4544568"/>
            <a:ext cx="6492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B97AB"/>
                </a:solidFill>
                <a:latin typeface="Menlo"/>
              </a:rPr>
              <a:t>tests generated per run; Selenium now runs in CI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4928616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E8ECF3"/>
                </a:solidFill>
                <a:latin typeface="Helvetica Neue"/>
              </a:rPr>
              <a:t>RAG / knowledge lake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4928616"/>
            <a:ext cx="6492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B97AB"/>
                </a:solidFill>
                <a:latin typeface="Menlo"/>
              </a:rPr>
              <a:t>three curated corpora, wired into four agent prompts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5312664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E8ECF3"/>
                </a:solidFill>
                <a:latin typeface="Helvetica Neue"/>
              </a:rPr>
              <a:t>A real UI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40" y="5312664"/>
            <a:ext cx="6492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B97AB"/>
                </a:solidFill>
                <a:latin typeface="Menlo"/>
              </a:rPr>
              <a:t>sign-in, live run view, gate approval, cost — finished this week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5696712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E8ECF3"/>
                </a:solidFill>
                <a:latin typeface="Helvetica Neue"/>
              </a:rPr>
              <a:t>Restructure as SaaS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3440" y="5696712"/>
            <a:ext cx="6492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B97AB"/>
                </a:solidFill>
                <a:latin typeface="Menlo"/>
              </a:rPr>
              <a:t>tenancy, control-plane API, per-tenant isolation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47120" y="629107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8B97AB"/>
                </a:solidFill>
                <a:latin typeface="Helvetica Neue"/>
              </a:rPr>
              <a:t>13</a:t>
            </a:r>
          </a:p>
        </p:txBody>
      </p:sp>
    </p:spTree>
  </p:cSld>
  <p:clrMapOvr>
    <a:masterClrMapping/>
  </p:clrMapOvr>
  <p:transition spd="med">
    <p:wipe dir="l"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658368"/>
            <a:ext cx="10149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2D3EE"/>
                </a:solidFill>
                <a:latin typeface="Helvetica Neue"/>
              </a:rPr>
              <a:t>PROGRESS · LIMITS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78992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3000" b="1">
                <a:solidFill>
                  <a:srgbClr val="E8ECF3"/>
                </a:solidFill>
                <a:latin typeface="Helvetica Neue"/>
              </a:rPr>
              <a:t>What this does not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883664"/>
            <a:ext cx="1463040" cy="381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10149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E8ECF3"/>
                </a:solidFill>
                <a:latin typeface="Helvetica Neue"/>
              </a:rPr>
              <a:t>A repository admin can bypass a gate. It is an operator setting, it is reported by the pre-flight check on every run, and it is not hidden.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880360"/>
            <a:ext cx="10149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E8ECF3"/>
                </a:solidFill>
                <a:latin typeface="Helvetica Neue"/>
              </a:rPr>
              <a:t>If the scanners miss something, the reviewer is the only thing that saw it — and the reviewer is advisory. Three human gates are the last line.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749040"/>
            <a:ext cx="10149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E8ECF3"/>
                </a:solidFill>
                <a:latin typeface="Helvetica Neue"/>
              </a:rPr>
              <a:t>One language, one target repository, three scanners. Breadth is where every competitor is ahead.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617719"/>
            <a:ext cx="10149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E8ECF3"/>
                </a:solidFill>
                <a:latin typeface="Helvetica Neue"/>
              </a:rPr>
              <a:t>A merged pull request carries the reviewed diff as an artifact; applying it to the source is the next step on the roadmap.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247120" y="629107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8B97AB"/>
                </a:solidFill>
                <a:latin typeface="Helvetica Neue"/>
              </a:rPr>
              <a:t>14</a:t>
            </a:r>
          </a:p>
        </p:txBody>
      </p:sp>
    </p:spTree>
  </p:cSld>
  <p:clrMapOvr>
    <a:masterClrMapping/>
  </p:clrMapOvr>
  <p:transition spd="med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6EE7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658368"/>
            <a:ext cx="10149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6EE7B7"/>
                </a:solidFill>
                <a:latin typeface="Helvetica Neue"/>
              </a:rPr>
              <a:t>FUTURE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078992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3200" b="1">
                <a:solidFill>
                  <a:srgbClr val="E8ECF3"/>
                </a:solidFill>
                <a:latin typeface="Helvetica Neue"/>
              </a:rPr>
              <a:t>What is next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1883664"/>
            <a:ext cx="1463040" cy="38100"/>
          </a:xfrm>
          <a:prstGeom prst="rect">
            <a:avLst/>
          </a:prstGeom>
          <a:solidFill>
            <a:srgbClr val="6EE7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6EE7B7"/>
                </a:solidFill>
                <a:latin typeface="Menlo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2103120"/>
            <a:ext cx="3931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E8ECF3"/>
                </a:solidFill>
                <a:latin typeface="Helvetica Neue"/>
              </a:rPr>
              <a:t>Apply the change, not just carry it   [NEXT]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210312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8B97AB"/>
                </a:solidFill>
                <a:latin typeface="Helvetica Neue"/>
              </a:rPr>
              <a:t>A merged pull request currently carries the reviewed diff as an artifact. Applying it to the source is the next step, and it is what would let a generated test run against the change.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1272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6EE7B7"/>
                </a:solidFill>
                <a:latin typeface="Menlo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3127248"/>
            <a:ext cx="3931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E8ECF3"/>
                </a:solidFill>
                <a:latin typeface="Helvetica Neue"/>
              </a:rPr>
              <a:t>Join the two test layers   [NEXT]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3127248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8B97AB"/>
                </a:solidFill>
                <a:latin typeface="Helvetica Neue"/>
              </a:rPr>
              <a:t>Tests are generated from the ticket each run; Selenium runs in CI against the app. Neither verifies the other yet.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151376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6EE7B7"/>
                </a:solidFill>
                <a:latin typeface="Menlo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4151376"/>
            <a:ext cx="3931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E8ECF3"/>
                </a:solidFill>
                <a:latin typeface="Helvetica Neue"/>
              </a:rPr>
              <a:t>Prompt caching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0" y="4151376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8B97AB"/>
                </a:solidFill>
                <a:latin typeface="Helvetica Neue"/>
              </a:rPr>
              <a:t>Cache hit rate is a measured zero — five agents re-send the same repository snapshot at four times the cached rate. The only cost work worth doing.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175504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6EE7B7"/>
                </a:solidFill>
                <a:latin typeface="Menlo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5175504"/>
            <a:ext cx="3931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E8ECF3"/>
                </a:solidFill>
                <a:latin typeface="Helvetica Neue"/>
              </a:rPr>
              <a:t>More languages, more scanners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52160" y="5175504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8B97AB"/>
                </a:solidFill>
                <a:latin typeface="Helvetica Neue"/>
              </a:rPr>
              <a:t>Three scanners and one Python target today. The gate is a table; adding a scanner is a row.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1247120" y="629107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8B97AB"/>
                </a:solidFill>
                <a:latin typeface="Helvetica Neue"/>
              </a:rPr>
              <a:t>15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4400" b="1">
                <a:solidFill>
                  <a:srgbClr val="E8ECF3"/>
                </a:solidFill>
                <a:latin typeface="Helvetica Neue"/>
              </a:rPr>
              <a:t>The demonstration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2834640"/>
            <a:ext cx="2011680" cy="381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10284" y="3383280"/>
            <a:ext cx="118872" cy="118872"/>
          </a:xfrm>
          <a:prstGeom prst="ellipse">
            <a:avLst/>
          </a:prstGeom>
          <a:solidFill>
            <a:srgbClr val="6EE7B7"/>
          </a:solidFill>
          <a:ln w="25400">
            <a:solidFill>
              <a:srgbClr val="6EE7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629156" y="3433572"/>
            <a:ext cx="1008888" cy="18288"/>
          </a:xfrm>
          <a:prstGeom prst="rect">
            <a:avLst/>
          </a:prstGeom>
          <a:solidFill>
            <a:srgbClr val="6EE7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3694176"/>
            <a:ext cx="112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E8ECF3"/>
                </a:solidFill>
                <a:latin typeface="Menlo"/>
              </a:rPr>
              <a:t>plan</a:t>
            </a:r>
          </a:p>
        </p:txBody>
      </p:sp>
      <p:sp>
        <p:nvSpPr>
          <p:cNvPr id="9" name="Oval 8"/>
          <p:cNvSpPr/>
          <p:nvPr/>
        </p:nvSpPr>
        <p:spPr>
          <a:xfrm>
            <a:off x="2610612" y="3383280"/>
            <a:ext cx="173736" cy="173736"/>
          </a:xfrm>
          <a:prstGeom prst="ellipse">
            <a:avLst/>
          </a:prstGeom>
          <a:solidFill>
            <a:srgbClr val="0B0F17"/>
          </a:solidFill>
          <a:ln w="25400">
            <a:solidFill>
              <a:srgbClr val="6EE7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84348" y="3461004"/>
            <a:ext cx="954024" cy="18288"/>
          </a:xfrm>
          <a:prstGeom prst="rect">
            <a:avLst/>
          </a:prstGeom>
          <a:solidFill>
            <a:srgbClr val="6EE7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33600" y="3694176"/>
            <a:ext cx="112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22D3EE"/>
                </a:solidFill>
                <a:latin typeface="Menlo"/>
              </a:rPr>
              <a:t>gate1</a:t>
            </a:r>
          </a:p>
        </p:txBody>
      </p:sp>
      <p:sp>
        <p:nvSpPr>
          <p:cNvPr id="12" name="Oval 11"/>
          <p:cNvSpPr/>
          <p:nvPr/>
        </p:nvSpPr>
        <p:spPr>
          <a:xfrm>
            <a:off x="3765804" y="3383280"/>
            <a:ext cx="118872" cy="118872"/>
          </a:xfrm>
          <a:prstGeom prst="ellipse">
            <a:avLst/>
          </a:prstGeom>
          <a:solidFill>
            <a:srgbClr val="6EE7B7"/>
          </a:solidFill>
          <a:ln w="25400">
            <a:solidFill>
              <a:srgbClr val="6EE7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884676" y="3433572"/>
            <a:ext cx="1008888" cy="18288"/>
          </a:xfrm>
          <a:prstGeom prst="rect">
            <a:avLst/>
          </a:prstGeom>
          <a:solidFill>
            <a:srgbClr val="6EE7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61360" y="3694176"/>
            <a:ext cx="112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E8ECF3"/>
                </a:solidFill>
                <a:latin typeface="Menlo"/>
              </a:rPr>
              <a:t>develop</a:t>
            </a:r>
          </a:p>
        </p:txBody>
      </p:sp>
      <p:sp>
        <p:nvSpPr>
          <p:cNvPr id="15" name="Oval 14"/>
          <p:cNvSpPr/>
          <p:nvPr/>
        </p:nvSpPr>
        <p:spPr>
          <a:xfrm>
            <a:off x="4893564" y="3383280"/>
            <a:ext cx="118872" cy="118872"/>
          </a:xfrm>
          <a:prstGeom prst="ellipse">
            <a:avLst/>
          </a:prstGeom>
          <a:solidFill>
            <a:srgbClr val="6EE7B7"/>
          </a:solidFill>
          <a:ln w="25400">
            <a:solidFill>
              <a:srgbClr val="6EE7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12436" y="3433572"/>
            <a:ext cx="1008888" cy="18288"/>
          </a:xfrm>
          <a:prstGeom prst="rect">
            <a:avLst/>
          </a:prstGeom>
          <a:solidFill>
            <a:srgbClr val="6EE7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0" y="3694176"/>
            <a:ext cx="112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E8ECF3"/>
                </a:solidFill>
                <a:latin typeface="Menlo"/>
              </a:rPr>
              <a:t>review</a:t>
            </a:r>
          </a:p>
        </p:txBody>
      </p:sp>
      <p:sp>
        <p:nvSpPr>
          <p:cNvPr id="18" name="Oval 17"/>
          <p:cNvSpPr/>
          <p:nvPr/>
        </p:nvSpPr>
        <p:spPr>
          <a:xfrm>
            <a:off x="6021324" y="3383280"/>
            <a:ext cx="118872" cy="118872"/>
          </a:xfrm>
          <a:prstGeom prst="ellipse">
            <a:avLst/>
          </a:prstGeom>
          <a:solidFill>
            <a:srgbClr val="FB7185"/>
          </a:solidFill>
          <a:ln w="25400">
            <a:solidFill>
              <a:srgbClr val="FB71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40196" y="3433572"/>
            <a:ext cx="1008888" cy="18288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16880" y="3694176"/>
            <a:ext cx="112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E8ECF3"/>
                </a:solidFill>
                <a:latin typeface="Menlo"/>
              </a:rPr>
              <a:t>security</a:t>
            </a:r>
          </a:p>
        </p:txBody>
      </p:sp>
      <p:sp>
        <p:nvSpPr>
          <p:cNvPr id="21" name="Oval 20"/>
          <p:cNvSpPr/>
          <p:nvPr/>
        </p:nvSpPr>
        <p:spPr>
          <a:xfrm>
            <a:off x="7121652" y="3383280"/>
            <a:ext cx="173736" cy="173736"/>
          </a:xfrm>
          <a:prstGeom prst="ellipse">
            <a:avLst/>
          </a:prstGeom>
          <a:solidFill>
            <a:srgbClr val="0B0F17"/>
          </a:solidFill>
          <a:ln w="254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295388" y="3461004"/>
            <a:ext cx="954024" cy="18288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44640" y="3694176"/>
            <a:ext cx="112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8B97AB"/>
                </a:solidFill>
                <a:latin typeface="Menlo"/>
              </a:rPr>
              <a:t>gate2</a:t>
            </a:r>
          </a:p>
        </p:txBody>
      </p:sp>
      <p:sp>
        <p:nvSpPr>
          <p:cNvPr id="24" name="Oval 23"/>
          <p:cNvSpPr/>
          <p:nvPr/>
        </p:nvSpPr>
        <p:spPr>
          <a:xfrm>
            <a:off x="8276844" y="3383280"/>
            <a:ext cx="118872" cy="118872"/>
          </a:xfrm>
          <a:prstGeom prst="ellipse">
            <a:avLst/>
          </a:prstGeom>
          <a:solidFill>
            <a:srgbClr val="1F2937"/>
          </a:solidFill>
          <a:ln w="254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395716" y="3433572"/>
            <a:ext cx="1008888" cy="18288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0" y="3694176"/>
            <a:ext cx="112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8B97AB"/>
                </a:solidFill>
                <a:latin typeface="Menlo"/>
              </a:rPr>
              <a:t>sre</a:t>
            </a:r>
          </a:p>
        </p:txBody>
      </p:sp>
      <p:sp>
        <p:nvSpPr>
          <p:cNvPr id="27" name="Oval 26"/>
          <p:cNvSpPr/>
          <p:nvPr/>
        </p:nvSpPr>
        <p:spPr>
          <a:xfrm>
            <a:off x="9377172" y="3383280"/>
            <a:ext cx="173736" cy="173736"/>
          </a:xfrm>
          <a:prstGeom prst="ellipse">
            <a:avLst/>
          </a:prstGeom>
          <a:solidFill>
            <a:srgbClr val="0B0F17"/>
          </a:solidFill>
          <a:ln w="254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550908" y="3461004"/>
            <a:ext cx="954024" cy="18288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00160" y="3694176"/>
            <a:ext cx="112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8B97AB"/>
                </a:solidFill>
                <a:latin typeface="Menlo"/>
              </a:rPr>
              <a:t>gate3</a:t>
            </a:r>
          </a:p>
        </p:txBody>
      </p:sp>
      <p:sp>
        <p:nvSpPr>
          <p:cNvPr id="30" name="Oval 29"/>
          <p:cNvSpPr/>
          <p:nvPr/>
        </p:nvSpPr>
        <p:spPr>
          <a:xfrm>
            <a:off x="10532364" y="3383280"/>
            <a:ext cx="118872" cy="118872"/>
          </a:xfrm>
          <a:prstGeom prst="ellipse">
            <a:avLst/>
          </a:prstGeom>
          <a:solidFill>
            <a:srgbClr val="1F2937"/>
          </a:solidFill>
          <a:ln w="254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27920" y="3694176"/>
            <a:ext cx="112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8B97AB"/>
                </a:solidFill>
                <a:latin typeface="Menlo"/>
              </a:rPr>
              <a:t>promote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" y="42062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>
                <a:solidFill>
                  <a:srgbClr val="8B97AB"/>
                </a:solidFill>
                <a:latin typeface="Helvetica Neue"/>
              </a:rPr>
              <a:t>A ticket that deliberately carries a credential. The scanners find it, the run stops at the security stage, and nothing after it runs.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" y="5120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22D3EE"/>
                </a:solidFill>
                <a:latin typeface="Helvetica Neue"/>
              </a:rPr>
              <a:t>Watch the line numbers: real scanners report 3, 4 and the stand-in fixture reports 4, 5. That pair is the only field that tells the two apart.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11247120" y="629107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8B97AB"/>
                </a:solidFill>
                <a:latin typeface="Helvetica Neue"/>
              </a:rPr>
              <a:t>16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148840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4800" b="1">
                <a:solidFill>
                  <a:srgbClr val="E8ECF3"/>
                </a:solidFill>
                <a:latin typeface="Helvetica Neue"/>
              </a:rPr>
              <a:t>Thank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3200400"/>
            <a:ext cx="2011680" cy="381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3657600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22D3EE"/>
                </a:solidFill>
                <a:latin typeface="Helvetica Neue"/>
              </a:rPr>
              <a:t>Questions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5577840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8B97AB"/>
                </a:solidFill>
                <a:latin typeface="Helvetica Neue"/>
              </a:rPr>
              <a:t>theagentorg.rosettacloud.app</a:t>
            </a:r>
          </a:p>
          <a:p>
            <a:pPr algn="l">
              <a:lnSpc>
                <a:spcPct val="140000"/>
              </a:lnSpc>
            </a:pPr>
            <a:r>
              <a:rPr sz="1500" b="0">
                <a:solidFill>
                  <a:srgbClr val="8B97AB"/>
                </a:solidFill>
                <a:latin typeface="Helvetica Neue"/>
              </a:rPr>
              <a:t>DevOps Hackathon Finals 2026 · TD63 RosettaTeam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29107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8B97AB"/>
                </a:solidFill>
                <a:latin typeface="Helvetica Neue"/>
              </a:rPr>
              <a:t>17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